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개요" id="{5ee05c8b-c636-fd85-0e08-7ce9752db37f}">
          <p14:sldIdLst>
            <p14:sldId id="256"/>
          </p14:sldIdLst>
        </p14:section>
        <p14:section name="고속도로 기본구간" id="{bda30823-4f7f-d929-e014-0731ec9967c8}">
          <p14:sldIdLst>
            <p14:sldId id="257"/>
            <p14:sldId id="258"/>
          </p14:sldIdLst>
        </p14:section>
        <p14:section name="신호교차로" id="{4ea04d25-514d-1d48-2ca9-a8f7ffe5238b}">
          <p14:sldIdLst>
            <p14:sldId id="259"/>
            <p14:sldId id="260"/>
          </p14:sldIdLst>
        </p14:section>
        <p14:section name="향후 계획" id="{5c0b2bb3-7079-bcf2-fa3f-90b4239e9aae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2A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F2A5C"/>
                </a:solidFill>
                <a:latin typeface="+mn-lt"/>
              </a:rPr>
              <a:t>오후 첨두 1시간 진입방향별 교통량 (대)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진입 교통량</c:v>
                </c:pt>
              </c:strCache>
            </c:strRef>
          </c:tx>
          <c:spPr>
            <a:solidFill>
              <a:srgbClr val="1F2A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F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2A5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B3E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서쪽에서 진입</c:v>
                  </c:pt>
                  <c:pt idx="1">
                    <c:v>동쪽에서 진입</c:v>
                  </c:pt>
                  <c:pt idx="2">
                    <c:v>남쪽에서 진입</c:v>
                  </c:pt>
                  <c:pt idx="3">
                    <c:v>북쪽에서 진입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1992</c:v>
                </c:pt>
                <c:pt idx="1">
                  <c:v>1755</c:v>
                </c:pt>
                <c:pt idx="2">
                  <c:v>1295</c:v>
                </c:pt>
                <c:pt idx="3">
                  <c:v>1127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A1F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FB3E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F3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 개요: 고속도로 기본구간(수도권제1순환고속도로 성남TG→송파IC 방향)과 신호교차로(태릉입구역 교차로)를 대상으로 선정했고, 이번 중간발표는 대상 선정과 자료 확보·예비 검토 단계까지를 다룹니다. 최종 용량·서비스수준 결과는 아직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성남TG→송파IC 방향 중 편도 4차로가 유지되는 구간을 선택했습니다. 접속부에서 각 400m 떨어진 지점을 잠정 경계로 두었으나, 이것만으로 접속부 영향이 완전히 제거됐다고 보지는 않습니다. 전체 구간 길이는 아직 확정하지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대표 분석지점은 00700, 비교 지점은 00800입니다. 두 지점의 5일간 하루 교통량 차이는 약 1.9~3.7%로 흐름이 유사했습니다. 차로폭·측방여유폭·종단경사·중차량 구성비와 정확한 VDS 설치 위치는 아직 확보·확인되지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태릉입구역 교차로는 스마트교차로 교통량 자료를 얻을 수 있고 현장 접근이 가능해 선정했습니다. 차로 구성은 지도·거리뷰로 잠정 확인한 것으로 현장조사에서 대조할 예정입니다.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2026년 9월 29일 하루 자료로, 회전별 5분 교통량을 연속 12개씩 합산해 첨두 1시간을 찾았습니다. 오후 17:20~18:20이 6,169대로 오전보다 많았고, 방향별로는 서쪽 진입이 1,992대로 가장 많았습니다. 한 날짜 결과이므로 일반적인 첨두시간으로 확정하지는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교차로 현장조사는 평일 아침 또는 주말 중 가능한 시간에 진행할 예정이며 구체적 일정은 미정입니다. 신호는 3~5주기 반복 관측합니다. 고속도로는 공개자료와 기관 문의로 도로 조건, 중차량 구성비, VDS 설치정보를 보완합니다. 이후 자료 대조와 시간대 일치를 거쳐 용량·서비스수준 분석을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서울시립대학교  |  교통 용량 분석 과제 중간발표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서울시립대학교  |  교통 용량 분석 과제 중간발표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서울시립대학교  ·  교통 용량 분석 과제 중간발표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고속도로 기본구간 및 신호교차로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분석 대상 선정과 조사 계획</a:t>
            </a:r>
            <a:endParaRPr lang="en-US" sz="3400" dirty="0"/>
          </a:p>
        </p:txBody>
      </p:sp>
      <p:sp>
        <p:nvSpPr>
          <p:cNvPr id="4" name="card-1"/>
          <p:cNvSpPr/>
          <p:nvPr/>
        </p:nvSpPr>
        <p:spPr>
          <a:xfrm>
            <a:off x="548640" y="2468880"/>
            <a:ext cx="32918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6060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고속도로 기본구간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수도권제1순환고속도로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성남TG → 송파IC 방향</a:t>
            </a:r>
            <a:endParaRPr lang="en-US" sz="1200" dirty="0"/>
          </a:p>
        </p:txBody>
      </p:sp>
      <p:sp>
        <p:nvSpPr>
          <p:cNvPr id="6" name="card-2"/>
          <p:cNvSpPr/>
          <p:nvPr/>
        </p:nvSpPr>
        <p:spPr>
          <a:xfrm>
            <a:off x="4114800" y="2468880"/>
            <a:ext cx="329184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389120" y="260604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1"/>
                </a:solidFill>
              </a:rPr>
              <a:t>신호교차로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태릉입구역 교차로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화랑로 × 동일로 사거리</a:t>
            </a:r>
            <a:endParaRPr lang="en-US" sz="1200" dirty="0"/>
          </a:p>
        </p:txBody>
      </p:sp>
      <p:sp>
        <p:nvSpPr>
          <p:cNvPr id="8" name="head-3"/>
          <p:cNvSpPr txBox="1"/>
          <p:nvPr/>
        </p:nvSpPr>
        <p:spPr>
          <a:xfrm>
            <a:off x="548640" y="4069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진행 순서</a:t>
            </a:r>
            <a:endParaRPr lang="en-US" sz="1600" dirty="0"/>
          </a:p>
        </p:txBody>
      </p:sp>
      <p:sp>
        <p:nvSpPr>
          <p:cNvPr id="9" name="step-4"/>
          <p:cNvSpPr txBox="1"/>
          <p:nvPr/>
        </p:nvSpPr>
        <p:spPr>
          <a:xfrm>
            <a:off x="548640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tx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  </a:t>
            </a:r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대상 선정</a:t>
            </a:r>
            <a:endParaRPr lang="en-US" sz="1400" dirty="0"/>
          </a:p>
        </p:txBody>
      </p:sp>
      <p:sp>
        <p:nvSpPr>
          <p:cNvPr id="10" name="arrow-5"/>
          <p:cNvSpPr/>
          <p:nvPr/>
        </p:nvSpPr>
        <p:spPr>
          <a:xfrm rot="5400000">
            <a:off x="2093976" y="4869180"/>
            <a:ext cx="182880" cy="18288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step-6"/>
          <p:cNvSpPr txBox="1"/>
          <p:nvPr/>
        </p:nvSpPr>
        <p:spPr>
          <a:xfrm>
            <a:off x="2340864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9050">
            <a:solidFill>
              <a:schemeClr val="tx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  </a:t>
            </a:r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자료 확보·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예비 검토</a:t>
            </a:r>
            <a:endParaRPr lang="en-US" sz="1400" dirty="0"/>
          </a:p>
        </p:txBody>
      </p:sp>
      <p:sp>
        <p:nvSpPr>
          <p:cNvPr id="12" name="arrow-7"/>
          <p:cNvSpPr/>
          <p:nvPr/>
        </p:nvSpPr>
        <p:spPr>
          <a:xfrm rot="5400000">
            <a:off x="3886200" y="4869180"/>
            <a:ext cx="182880" cy="18288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step-8"/>
          <p:cNvSpPr txBox="1"/>
          <p:nvPr/>
        </p:nvSpPr>
        <p:spPr>
          <a:xfrm>
            <a:off x="4133088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3  </a:t>
            </a:r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현장조사</a:t>
            </a:r>
            <a:endParaRPr lang="en-US" sz="1400" dirty="0"/>
          </a:p>
        </p:txBody>
      </p:sp>
      <p:sp>
        <p:nvSpPr>
          <p:cNvPr id="14" name="arrow-9"/>
          <p:cNvSpPr/>
          <p:nvPr/>
        </p:nvSpPr>
        <p:spPr>
          <a:xfrm rot="5400000">
            <a:off x="5678424" y="4869180"/>
            <a:ext cx="182880" cy="182880"/>
          </a:xfrm>
          <a:prstGeom prst="triangl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step-10"/>
          <p:cNvSpPr txBox="1"/>
          <p:nvPr/>
        </p:nvSpPr>
        <p:spPr>
          <a:xfrm>
            <a:off x="5925312" y="4526280"/>
            <a:ext cx="1481328" cy="868680"/>
          </a:xfrm>
          <a:prstGeom prst="roundRect">
            <a:avLst>
              <a:gd name="adj" fmla="val 8421"/>
            </a:avLst>
          </a:prstGeom>
          <a:solidFill>
            <a:schemeClr val="bg1"/>
          </a:solidFill>
          <a:ln w="19050">
            <a:solidFill>
              <a:schemeClr val="accent3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4  </a:t>
            </a:r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용량·서비스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수준 분석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53212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중간발표 범위: ①~②  /  이후 진행: ③~④</a:t>
            </a:r>
            <a:endParaRPr lang="en-US" sz="1200" dirty="0"/>
          </a:p>
        </p:txBody>
      </p:sp>
      <p:sp>
        <p:nvSpPr>
          <p:cNvPr id="17" name="head-11"/>
          <p:cNvSpPr txBox="1"/>
          <p:nvPr/>
        </p:nvSpPr>
        <p:spPr>
          <a:xfrm>
            <a:off x="7680960" y="2423160"/>
            <a:ext cx="3959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팀원 및 업무분담</a:t>
            </a:r>
            <a:endParaRPr lang="en-US" sz="1600" dirty="0"/>
          </a:p>
        </p:txBody>
      </p:sp>
      <p:graphicFrame>
        <p:nvGraphicFramePr>
          <p:cNvPr id="2" name="team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80360"/>
          <a:ext cx="39593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2491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이름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담당 업무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3" name="dat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5257800"/>
          <a:ext cx="39593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24912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발표일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8FB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고속도로 기본구간 선정</a:t>
            </a:r>
            <a:endParaRPr lang="en-US" sz="3000" dirty="0"/>
          </a:p>
        </p:txBody>
      </p:sp>
      <p:sp>
        <p:nvSpPr>
          <p:cNvPr id="3" name="image-slot-12"/>
          <p:cNvSpPr/>
          <p:nvPr/>
        </p:nvSpPr>
        <p:spPr>
          <a:xfrm>
            <a:off x="548640" y="1234440"/>
            <a:ext cx="640080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4" name="image-slot-label-13"/>
          <p:cNvSpPr txBox="1"/>
          <p:nvPr/>
        </p:nvSpPr>
        <p:spPr>
          <a:xfrm>
            <a:off x="731520" y="1417320"/>
            <a:ext cx="6035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지도 삽입 위치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표시 항목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분석 시작점 · 종료점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진행방향 (성남TG → 송파IC)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VDS 00700 · 00800 (이정 기반 근사 위치)</a:t>
            </a:r>
            <a:endParaRPr lang="en-US" sz="1600" dirty="0"/>
          </a:p>
        </p:txBody>
      </p:sp>
      <p:sp>
        <p:nvSpPr>
          <p:cNvPr id="5" name="card-14"/>
          <p:cNvSpPr/>
          <p:nvPr/>
        </p:nvSpPr>
        <p:spPr>
          <a:xfrm>
            <a:off x="7269480" y="1234440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0" y="13258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대상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581912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성남TG → 송파IC 방향의 선택 구간</a:t>
            </a:r>
            <a:endParaRPr lang="en-US" sz="1400" dirty="0"/>
          </a:p>
        </p:txBody>
      </p:sp>
      <p:sp>
        <p:nvSpPr>
          <p:cNvPr id="8" name="card-15"/>
          <p:cNvSpPr/>
          <p:nvPr/>
        </p:nvSpPr>
        <p:spPr>
          <a:xfrm>
            <a:off x="7269480" y="2093976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0" y="21854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분석 경계 (잠정)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441448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지도상 접속부에서 각각 400m 이격하여 설정</a:t>
            </a:r>
            <a:endParaRPr lang="en-US" sz="1400" dirty="0"/>
          </a:p>
        </p:txBody>
      </p:sp>
      <p:sp>
        <p:nvSpPr>
          <p:cNvPr id="11" name="card-16"/>
          <p:cNvSpPr/>
          <p:nvPr/>
        </p:nvSpPr>
        <p:spPr>
          <a:xfrm>
            <a:off x="7269480" y="2953512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30449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차로 조건</a:t>
            </a:r>
            <a:endParaRPr lang="en-US" sz="1200" dirty="0"/>
          </a:p>
        </p:txBody>
      </p:sp>
      <p:sp>
        <p:nvSpPr>
          <p:cNvPr id="13" name="chip-17"/>
          <p:cNvSpPr txBox="1"/>
          <p:nvPr/>
        </p:nvSpPr>
        <p:spPr>
          <a:xfrm>
            <a:off x="10881360" y="3044952"/>
            <a:ext cx="53035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확인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300984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선택 구간 내 편도 4차로 유지</a:t>
            </a:r>
            <a:endParaRPr lang="en-US" sz="1400" dirty="0"/>
          </a:p>
        </p:txBody>
      </p:sp>
      <p:sp>
        <p:nvSpPr>
          <p:cNvPr id="15" name="card-18"/>
          <p:cNvSpPr/>
          <p:nvPr/>
        </p:nvSpPr>
        <p:spPr>
          <a:xfrm>
            <a:off x="7269480" y="3813048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98080" y="39044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선정 이유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0" y="416052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차로 수 일정 · 인접 VDS 자료 비교·검토 가능</a:t>
            </a:r>
            <a:endParaRPr lang="en-US" sz="1400" dirty="0"/>
          </a:p>
        </p:txBody>
      </p:sp>
      <p:sp>
        <p:nvSpPr>
          <p:cNvPr id="18" name="card-19"/>
          <p:cNvSpPr/>
          <p:nvPr/>
        </p:nvSpPr>
        <p:spPr>
          <a:xfrm>
            <a:off x="7269480" y="4672584"/>
            <a:ext cx="4370832" cy="768096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498080" y="47640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전체 구간 길이</a:t>
            </a:r>
            <a:endParaRPr lang="en-US" sz="1200" dirty="0"/>
          </a:p>
        </p:txBody>
      </p:sp>
      <p:sp>
        <p:nvSpPr>
          <p:cNvPr id="20" name="chip-20"/>
          <p:cNvSpPr txBox="1"/>
          <p:nvPr/>
        </p:nvSpPr>
        <p:spPr>
          <a:xfrm>
            <a:off x="10497312" y="4764024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추가 확인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498080" y="5020056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미확정</a:t>
            </a:r>
            <a:endParaRPr lang="en-US" sz="1400" dirty="0"/>
          </a:p>
        </p:txBody>
      </p:sp>
      <p:sp>
        <p:nvSpPr>
          <p:cNvPr id="22" name="notes-21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400m 이격만으로 접속부 영향이 완전히 제거됐다고 단정하지 않음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VDS 지도 위치는 도로 이정 기반 근사 위치이며, 정확한 설치 위치는 추가 확인 예정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고속도로 입력자료 확보 현황</a:t>
            </a:r>
            <a:endParaRPr lang="en-US" sz="3000" dirty="0"/>
          </a:p>
        </p:txBody>
      </p:sp>
      <p:graphicFrame>
        <p:nvGraphicFramePr>
          <p:cNvPr id="4" name="hw-input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68096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4800600"/>
                <a:gridCol w="109728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현재 상태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구분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대표 분석지점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1000VDE00700, 이정 6.50km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비교 지점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1000VDE00800, 이정 7.20km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교통량·속도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2026년 6월 15·16·17·22·23일 5분 자료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자료 일관성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두 지점 5일간 일 교통량 차이 약 1.9~3.7%, 시간대별 흐름 유사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검토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대표 지점 원시자료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00700의 1~4차로 기록 확인, 5분 통계와 거의 일치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확인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추가 확보 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차로폭 · 측방여유폭 · 종단경사 · 중차량 구성비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추가 확보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추가 확인 항목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정확한 VDS 설치 위치, 00800의 집계 차로 범위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4"/>
                          </a:solidFill>
                        </a:rPr>
                        <a:t>추가 확인</a:t>
                      </a:r>
                      <a:endParaRPr lang="en-US" sz="1300" dirty="0"/>
                    </a:p>
                  </a:txBody>
                  <a:tcPr marL="109728" marR="73152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card-22"/>
          <p:cNvSpPr/>
          <p:nvPr/>
        </p:nvSpPr>
        <p:spPr>
          <a:xfrm>
            <a:off x="8503920" y="123444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head-23"/>
          <p:cNvSpPr txBox="1"/>
          <p:nvPr/>
        </p:nvSpPr>
        <p:spPr>
          <a:xfrm>
            <a:off x="8732520" y="1371600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자료 활용·보완 계획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1828800"/>
            <a:ext cx="27249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인접 VDS 교통량은 합산하지 않고, 대표 지점 분석과 비교 검토에 활용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중차량 구성비: 대상 구간 직접 AVC 자료 미확보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도로 조건: 도로대장·설계자료로 보완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설치정보: 제공기관 문의로 보완</a:t>
            </a:r>
            <a:endParaRPr lang="en-US" sz="1400" dirty="0"/>
          </a:p>
        </p:txBody>
      </p:sp>
      <p:sp>
        <p:nvSpPr>
          <p:cNvPr id="7" name="chip-24"/>
          <p:cNvSpPr txBox="1"/>
          <p:nvPr/>
        </p:nvSpPr>
        <p:spPr>
          <a:xfrm>
            <a:off x="548640" y="546811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확보·확인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54681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자료 확보 또는 검토 완료</a:t>
            </a:r>
            <a:endParaRPr lang="en-US" sz="1100" dirty="0"/>
          </a:p>
        </p:txBody>
      </p:sp>
      <p:sp>
        <p:nvSpPr>
          <p:cNvPr id="9" name="chip-25"/>
          <p:cNvSpPr txBox="1"/>
          <p:nvPr/>
        </p:nvSpPr>
        <p:spPr>
          <a:xfrm>
            <a:off x="3886200" y="5468112"/>
            <a:ext cx="91440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추가 확인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546811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미확보·미확인, 추후 보완</a:t>
            </a:r>
            <a:endParaRPr lang="en-US" sz="1100" dirty="0"/>
          </a:p>
        </p:txBody>
      </p:sp>
      <p:sp>
        <p:nvSpPr>
          <p:cNvPr id="11" name="source-26"/>
          <p:cNvSpPr txBox="1"/>
          <p:nvPr/>
        </p:nvSpPr>
        <p:spPr>
          <a:xfrm>
            <a:off x="548640" y="605332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한국도로공사 VDS 5분 통계 및 차로별 원시자료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태릉입구역 교차로 선정 및 차로 구성</a:t>
            </a:r>
            <a:endParaRPr lang="en-US" sz="3000" dirty="0"/>
          </a:p>
        </p:txBody>
      </p:sp>
      <p:sp>
        <p:nvSpPr>
          <p:cNvPr id="3" name="map-slot"/>
          <p:cNvSpPr/>
          <p:nvPr/>
        </p:nvSpPr>
        <p:spPr>
          <a:xfrm>
            <a:off x="548640" y="1234440"/>
            <a:ext cx="3657600" cy="420624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4" name="road-ns"/>
          <p:cNvSpPr/>
          <p:nvPr/>
        </p:nvSpPr>
        <p:spPr>
          <a:xfrm>
            <a:off x="2034540" y="1737360"/>
            <a:ext cx="685800" cy="320040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road-ew"/>
          <p:cNvSpPr/>
          <p:nvPr/>
        </p:nvSpPr>
        <p:spPr>
          <a:xfrm>
            <a:off x="685800" y="2994660"/>
            <a:ext cx="3383280" cy="685800"/>
          </a:xfrm>
          <a:prstGeom prst="rect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307592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북 · 동일로 (공릉역 쪽)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5604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남 · 동일로 (먹골역 쪽)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4917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서 · 화랑로</a:t>
            </a:r>
            <a:endParaRPr lang="en-US" sz="1100" dirty="0"/>
          </a:p>
          <a:p>
            <a:pPr algn="l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(석계역 쪽)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88920" y="249174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동 · 화랑로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8176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지도 / 접근로 도식 삽입 위치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480560" y="1234440"/>
            <a:ext cx="7159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위치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화랑로와 동일로가 만나는 태릉입구역 사거리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16916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선정 이유</a:t>
            </a:r>
            <a:endParaRPr lang="en-US" sz="1400" dirty="0"/>
          </a:p>
        </p:txBody>
      </p:sp>
      <p:sp>
        <p:nvSpPr>
          <p:cNvPr id="13" name="chip-27"/>
          <p:cNvSpPr txBox="1"/>
          <p:nvPr/>
        </p:nvSpPr>
        <p:spPr>
          <a:xfrm>
            <a:off x="5440680" y="1691640"/>
            <a:ext cx="2194560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스마트교차로 자료 확보 가능</a:t>
            </a:r>
            <a:endParaRPr lang="en-US" sz="1100" dirty="0"/>
          </a:p>
        </p:txBody>
      </p:sp>
      <p:sp>
        <p:nvSpPr>
          <p:cNvPr id="14" name="chip-28"/>
          <p:cNvSpPr txBox="1"/>
          <p:nvPr/>
        </p:nvSpPr>
        <p:spPr>
          <a:xfrm>
            <a:off x="7744968" y="1691640"/>
            <a:ext cx="1298448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현장 접근 가능</a:t>
            </a:r>
            <a:endParaRPr lang="en-US" sz="1100" dirty="0"/>
          </a:p>
        </p:txBody>
      </p:sp>
      <p:sp>
        <p:nvSpPr>
          <p:cNvPr id="15" name="chip-29"/>
          <p:cNvSpPr txBox="1"/>
          <p:nvPr/>
        </p:nvSpPr>
        <p:spPr>
          <a:xfrm>
            <a:off x="9153144" y="1691640"/>
            <a:ext cx="2066544" cy="274320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회전별·접근로별 분석 가능</a:t>
            </a:r>
            <a:endParaRPr lang="en-US" sz="1100" dirty="0"/>
          </a:p>
        </p:txBody>
      </p:sp>
      <p:graphicFrame>
        <p:nvGraphicFramePr>
          <p:cNvPr id="5" name="lan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2194560"/>
          <a:ext cx="7159752" cy="914400"/>
        </p:xfrm>
        <a:graphic>
          <a:graphicData uri="http://schemas.openxmlformats.org/drawingml/2006/table">
            <a:tbl>
              <a:tblPr/>
              <a:tblGrid>
                <a:gridCol w="1490472"/>
                <a:gridCol w="731520"/>
                <a:gridCol w="987552"/>
                <a:gridCol w="987552"/>
                <a:gridCol w="987552"/>
                <a:gridCol w="987552"/>
                <a:gridCol w="987552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진입 접근로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차로 수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 (중앙선)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화랑로 동쪽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화랑로 서쪽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(석계역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우회전 전용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동일로 북쪽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(공릉역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5"/>
                          </a:solidFill>
                        </a:rPr>
                        <a:t>–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동일로 남쪽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(먹골역 쪽)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좌회전·유턴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좌회전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직진·우회전</a:t>
                      </a:r>
                      <a:endParaRPr lang="en-US" sz="1200" dirty="0"/>
                    </a:p>
                  </a:txBody>
                  <a:tcPr marL="73152" marR="36576" marT="27432" marB="27432" anchor="ctr">
                    <a:lnL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2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4480560" y="5239512"/>
            <a:ext cx="71597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차로 구성은 중앙선 쪽부터 표시  ·  음영: 좌회전 포함 차로</a:t>
            </a:r>
            <a:endParaRPr lang="en-US" sz="1100" dirty="0"/>
          </a:p>
        </p:txBody>
      </p:sp>
      <p:sp>
        <p:nvSpPr>
          <p:cNvPr id="18" name="notes-30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지도·거리뷰로 잠정 확인한 구성이며, 현장에서 대조 예정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버스전용차로 위치·운영시간·적용 범위와 유턴 조건은 현장 표지판으로 확인 예정</a:t>
            </a:r>
            <a:endParaRPr lang="en-US" sz="1200" dirty="0"/>
          </a:p>
        </p:txBody>
      </p:sp>
      <p:sp>
        <p:nvSpPr>
          <p:cNvPr id="19" name="source-31"/>
          <p:cNvSpPr txBox="1"/>
          <p:nvPr/>
        </p:nvSpPr>
        <p:spPr>
          <a:xfrm>
            <a:off x="548640" y="6144768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네이버지도 위성사진·거리뷰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교차로 교통량 예비 분석</a:t>
            </a:r>
            <a:endParaRPr lang="en-US" sz="3000" dirty="0"/>
          </a:p>
        </p:txBody>
      </p:sp>
      <p:sp>
        <p:nvSpPr>
          <p:cNvPr id="3" name="card-32"/>
          <p:cNvSpPr/>
          <p:nvPr/>
        </p:nvSpPr>
        <p:spPr>
          <a:xfrm>
            <a:off x="548640" y="1188720"/>
            <a:ext cx="25146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43584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자료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서울시 T-DATA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스마트교차로 5분 교통량</a:t>
            </a:r>
            <a:endParaRPr lang="en-US" sz="1100" dirty="0"/>
          </a:p>
        </p:txBody>
      </p:sp>
      <p:sp>
        <p:nvSpPr>
          <p:cNvPr id="5" name="card-33"/>
          <p:cNvSpPr/>
          <p:nvPr/>
        </p:nvSpPr>
        <p:spPr>
          <a:xfrm>
            <a:off x="3246120" y="118872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10712" y="1243584"/>
            <a:ext cx="1554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날짜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2026년 9월 29일</a:t>
            </a:r>
            <a:endParaRPr lang="en-US" sz="1100" dirty="0"/>
          </a:p>
        </p:txBody>
      </p:sp>
      <p:sp>
        <p:nvSpPr>
          <p:cNvPr id="7" name="card-34"/>
          <p:cNvSpPr/>
          <p:nvPr/>
        </p:nvSpPr>
        <p:spPr>
          <a:xfrm>
            <a:off x="5257800" y="1188720"/>
            <a:ext cx="196596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22392" y="1243584"/>
            <a:ext cx="1691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대상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태릉입구역 교차로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(ID 172)</a:t>
            </a:r>
            <a:endParaRPr lang="en-US" sz="1100" dirty="0"/>
          </a:p>
        </p:txBody>
      </p:sp>
      <p:sp>
        <p:nvSpPr>
          <p:cNvPr id="9" name="card-35"/>
          <p:cNvSpPr/>
          <p:nvPr/>
        </p:nvSpPr>
        <p:spPr>
          <a:xfrm>
            <a:off x="7406640" y="1188720"/>
            <a:ext cx="420624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71232" y="1243584"/>
            <a:ext cx="39319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방법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회전별 5분 VOL 연속 12개 합산 → 첨두 1시간</a:t>
            </a:r>
            <a:endParaRPr lang="en-US" sz="11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(좌회전·직진·우회전·유턴 모두 포함)</a:t>
            </a:r>
            <a:endParaRPr lang="en-US" sz="1100" dirty="0"/>
          </a:p>
        </p:txBody>
      </p:sp>
      <p:sp>
        <p:nvSpPr>
          <p:cNvPr id="11" name="card-36"/>
          <p:cNvSpPr/>
          <p:nvPr/>
        </p:nvSpPr>
        <p:spPr>
          <a:xfrm>
            <a:off x="548640" y="2286000"/>
            <a:ext cx="3657600" cy="1261872"/>
          </a:xfrm>
          <a:prstGeom prst="roundRect">
            <a:avLst>
              <a:gd name="adj" fmla="val 579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468880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오전 첨두 1시간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07:25 ~ 08:25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2468880"/>
            <a:ext cx="1645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5,804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 대</a:t>
            </a:r>
            <a:endParaRPr lang="en-US" sz="3400" dirty="0"/>
          </a:p>
        </p:txBody>
      </p:sp>
      <p:sp>
        <p:nvSpPr>
          <p:cNvPr id="14" name="card-37"/>
          <p:cNvSpPr/>
          <p:nvPr/>
        </p:nvSpPr>
        <p:spPr>
          <a:xfrm>
            <a:off x="548640" y="3685032"/>
            <a:ext cx="365760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3867912"/>
            <a:ext cx="17373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오후 첨두 1시간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17:20 ~ 18:20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0" y="3867912"/>
            <a:ext cx="16459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6,169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 대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29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전체 진입 교통량 기준</a:t>
            </a:r>
            <a:endParaRPr lang="en-US" sz="1100" dirty="0"/>
          </a:p>
        </p:txBody>
      </p:sp>
      <p:graphicFrame>
        <p:nvGraphicFramePr>
          <p:cNvPr id="18" name="dir-volume-chart" descr=""/>
          <p:cNvGraphicFramePr/>
          <p:nvPr/>
        </p:nvGraphicFramePr>
        <p:xfrm>
          <a:off x="4526280" y="2240280"/>
          <a:ext cx="7114032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9" name="card-38"/>
          <p:cNvSpPr/>
          <p:nvPr/>
        </p:nvSpPr>
        <p:spPr>
          <a:xfrm>
            <a:off x="548640" y="54406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44068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해석 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해당 날짜는 오후 첨두 교통량이 더 많고, 서쪽 접근로 진입 교통량이 가장 많음</a:t>
            </a: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※ 한 날짜의 예비 결과로, 일반적인 첨두시간으로 확정하지 않음</a:t>
            </a:r>
            <a:endParaRPr lang="en-US" sz="1300" dirty="0"/>
          </a:p>
        </p:txBody>
      </p:sp>
      <p:sp>
        <p:nvSpPr>
          <p:cNvPr id="21" name="source-39"/>
          <p:cNvSpPr txBox="1"/>
          <p:nvPr/>
        </p:nvSpPr>
        <p:spPr>
          <a:xfrm>
            <a:off x="548640" y="6080760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출처: 서울시 T-DATA, VW_SC_TRF_VOL_5M_20260929.csv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현장조사 및 향후 분석 계획</a:t>
            </a:r>
            <a:endParaRPr lang="en-US" sz="3000" dirty="0"/>
          </a:p>
        </p:txBody>
      </p:sp>
      <p:sp>
        <p:nvSpPr>
          <p:cNvPr id="3" name="card-40"/>
          <p:cNvSpPr/>
          <p:nvPr/>
        </p:nvSpPr>
        <p:spPr>
          <a:xfrm>
            <a:off x="548640" y="1234440"/>
            <a:ext cx="466344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head-41"/>
          <p:cNvSpPr txBox="1"/>
          <p:nvPr/>
        </p:nvSpPr>
        <p:spPr>
          <a:xfrm>
            <a:off x="77724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교차로 현장조사</a:t>
            </a:r>
            <a:endParaRPr lang="en-US" sz="1600" dirty="0"/>
          </a:p>
        </p:txBody>
      </p:sp>
      <p:sp>
        <p:nvSpPr>
          <p:cNvPr id="5" name="chip-42"/>
          <p:cNvSpPr txBox="1"/>
          <p:nvPr/>
        </p:nvSpPr>
        <p:spPr>
          <a:xfrm>
            <a:off x="3703320" y="1417320"/>
            <a:ext cx="1280160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조사일·시간 미정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일정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평일 아침 또는 주말 중 가능한 시간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86000"/>
            <a:ext cx="4251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차로 수·회전 구성·버스전용차로·유턴 표지 확인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신호주기·현시 순서·현시별 녹색 및 황색시간 기록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신호 3~5주기 반복 관측 → 변동 여부 확인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조사 날짜·시간과 사진 기록</a:t>
            </a:r>
            <a:endParaRPr lang="en-US" sz="14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보도 등 안전한 관측 위치에서 조사</a:t>
            </a:r>
            <a:endParaRPr lang="en-US" sz="1400" dirty="0"/>
          </a:p>
        </p:txBody>
      </p:sp>
      <p:sp>
        <p:nvSpPr>
          <p:cNvPr id="8" name="card-43"/>
          <p:cNvSpPr/>
          <p:nvPr/>
        </p:nvSpPr>
        <p:spPr>
          <a:xfrm>
            <a:off x="5486400" y="1234440"/>
            <a:ext cx="297180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head-44"/>
          <p:cNvSpPr txBox="1"/>
          <p:nvPr/>
        </p:nvSpPr>
        <p:spPr>
          <a:xfrm>
            <a:off x="5715000" y="13716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고속도로 추가 조사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715000" y="182880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공개자료와 기관 문의 중심으로 보완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도로 조건 · 중차량 구성비 · VDS 설치정보</a:t>
            </a:r>
            <a:endParaRPr lang="en-US" sz="1400" dirty="0"/>
          </a:p>
        </p:txBody>
      </p:sp>
      <p:sp>
        <p:nvSpPr>
          <p:cNvPr id="11" name="image-slot-45"/>
          <p:cNvSpPr/>
          <p:nvPr/>
        </p:nvSpPr>
        <p:spPr>
          <a:xfrm>
            <a:off x="5486400" y="3291840"/>
            <a:ext cx="2971800" cy="2057400"/>
          </a:xfrm>
          <a:prstGeom prst="rect">
            <a:avLst/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2" name="image-slot-label-46"/>
          <p:cNvSpPr txBox="1"/>
          <p:nvPr/>
        </p:nvSpPr>
        <p:spPr>
          <a:xfrm>
            <a:off x="5669280" y="3474720"/>
            <a:ext cx="2606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현장사진 삽입 위치</a:t>
            </a:r>
            <a:endParaRPr lang="en-US" sz="16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현장조사 후 추가</a:t>
            </a:r>
            <a:endParaRPr lang="en-US" sz="1600" dirty="0"/>
          </a:p>
        </p:txBody>
      </p:sp>
      <p:sp>
        <p:nvSpPr>
          <p:cNvPr id="13" name="head-47"/>
          <p:cNvSpPr txBox="1"/>
          <p:nvPr/>
        </p:nvSpPr>
        <p:spPr>
          <a:xfrm>
            <a:off x="8732520" y="123444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향후 분석</a:t>
            </a:r>
            <a:endParaRPr lang="en-US" sz="1600" dirty="0"/>
          </a:p>
        </p:txBody>
      </p:sp>
      <p:sp>
        <p:nvSpPr>
          <p:cNvPr id="14" name="step-num-48"/>
          <p:cNvSpPr txBox="1"/>
          <p:nvPr/>
        </p:nvSpPr>
        <p:spPr>
          <a:xfrm>
            <a:off x="8732520" y="18013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16916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현장조사 결과와 기존 자료 대조</a:t>
            </a:r>
            <a:endParaRPr lang="en-US" sz="1400" dirty="0"/>
          </a:p>
        </p:txBody>
      </p:sp>
      <p:sp>
        <p:nvSpPr>
          <p:cNvPr id="16" name="step-num-49"/>
          <p:cNvSpPr txBox="1"/>
          <p:nvPr/>
        </p:nvSpPr>
        <p:spPr>
          <a:xfrm>
            <a:off x="8732520" y="27157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060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최종 분석용 교통량과 신호 운영의 시간대 일치</a:t>
            </a:r>
            <a:endParaRPr lang="en-US" sz="1400" dirty="0"/>
          </a:p>
        </p:txBody>
      </p:sp>
      <p:sp>
        <p:nvSpPr>
          <p:cNvPr id="18" name="step-num-50"/>
          <p:cNvSpPr txBox="1"/>
          <p:nvPr/>
        </p:nvSpPr>
        <p:spPr>
          <a:xfrm>
            <a:off x="8732520" y="3630168"/>
            <a:ext cx="411480" cy="411480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35204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용량·서비스수준 산정에 필요한 추가 항목 확인</a:t>
            </a:r>
            <a:endParaRPr lang="en-US" sz="1400" dirty="0"/>
          </a:p>
        </p:txBody>
      </p:sp>
      <p:sp>
        <p:nvSpPr>
          <p:cNvPr id="20" name="step-num-51"/>
          <p:cNvSpPr txBox="1"/>
          <p:nvPr/>
        </p:nvSpPr>
        <p:spPr>
          <a:xfrm>
            <a:off x="8732520" y="4544568"/>
            <a:ext cx="411480" cy="411480"/>
          </a:xfrm>
          <a:prstGeom prst="ellipse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443484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입력자료 확보 후 용량·서비스수준 분석</a:t>
            </a:r>
            <a:endParaRPr lang="en-US" sz="1400" dirty="0"/>
          </a:p>
        </p:txBody>
      </p:sp>
      <p:sp>
        <p:nvSpPr>
          <p:cNvPr id="22" name="notes-52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주말에 관측한 신호시간을 평일 첨두 교통량에 그대로 적용하지 않음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accent5"/>
                </a:solidFill>
              </a:rPr>
              <a:t>※ 최종 분석에 필요한 차종 구성·보행량 등은 추가 확보 계획에 포함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OS Traffic Capacity">
  <a:themeElements>
    <a:clrScheme name="UOS Traffic Capacity">
      <a:dk1>
        <a:srgbClr val="1A1F36"/>
      </a:dk1>
      <a:lt1>
        <a:srgbClr val="FFFFFF"/>
      </a:lt1>
      <a:dk2>
        <a:srgbClr val="1F2A5C"/>
      </a:dk2>
      <a:lt2>
        <a:srgbClr val="EEF3FA"/>
      </a:lt2>
      <a:accent1>
        <a:srgbClr val="2E6FD8"/>
      </a:accent1>
      <a:accent2>
        <a:srgbClr val="1F2A5C"/>
      </a:accent2>
      <a:accent3>
        <a:srgbClr val="8FB3EA"/>
      </a:accent3>
      <a:accent4>
        <a:srgbClr val="C26A00"/>
      </a:accent4>
      <a:accent5>
        <a:srgbClr val="6B7280"/>
      </a:accent5>
      <a:accent6>
        <a:srgbClr val="D6E2F5"/>
      </a:accent6>
      <a:hlink>
        <a:srgbClr val="2E6FD8"/>
      </a:hlink>
      <a:folHlink>
        <a:srgbClr val="5B5F97"/>
      </a:folHlink>
    </a:clrScheme>
    <a:fontScheme name="UOS Traffic Capacity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서울시립대학교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고속도로 기본구간 및 신호교차로 분석 대상 선정과 조사 계획</dc:title>
  <dc:subject>교통 용량 분석 과제 중간발표</dc:subject>
  <dc:creator>PptxGenJS</dc:creator>
  <cp:lastModifiedBy>PptxGenJS</cp:lastModifiedBy>
  <cp:revision>1</cp:revision>
  <dcterms:created xsi:type="dcterms:W3CDTF">2026-10-12T11:08:05Z</dcterms:created>
  <dcterms:modified xsi:type="dcterms:W3CDTF">2026-10-12T11:08:05Z</dcterms:modified>
</cp:coreProperties>
</file>