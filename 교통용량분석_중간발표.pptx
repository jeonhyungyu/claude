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3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5EE05C8B-C636-FD85-0E08-7CE9752DB37F}" name="개요">
          <p14:sldIdLst>
            <p14:sldId id="256"/>
          </p14:sldIdLst>
        </p14:section>
        <p14:section id="{BDA30823-4F7F-D929-E014-0731EC9967C8}" name="고속도로 기본구간">
          <p14:sldIdLst>
            <p14:sldId id="257"/>
            <p14:sldId id="258"/>
          </p14:sldIdLst>
        </p14:section>
        <p14:section id="{4EA04D25-514D-1D48-2CA9-A8F7FFE5238B}" name="신호교차로">
          <p14:sldIdLst>
            <p14:sldId id="259"/>
            <p14:sldId id="260"/>
          </p14:sldIdLst>
        </p14:section>
        <p14:section id="{5C0B2BB3-7079-BCF2-FA3F-90B4239E9AAE}" name="향후 계획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336" y="138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viewProps" Target="viewProps.xml"  /><Relationship Id="rId11" Type="http://schemas.openxmlformats.org/officeDocument/2006/relationships/theme" Target="theme/theme1.xml"  /><Relationship Id="rId12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presProps" Target="presProps.xml"  /></Relationships>
</file>

<file path=ppt/charts/_rels/chart1.xml.rels><?xml version="1.0" encoding="UTF-8" standalone="yes" ?><Relationships xmlns="http://schemas.openxmlformats.org/package/2006/relationships"><Relationship Id="rId1" Type="http://schemas.openxmlformats.org/officeDocument/2006/relationships/package" Target="../embeddings/oleObject1.xlsx" 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5C"/>
                </a:solidFill>
                <a:latin typeface="+mn-lt"/>
              </a:rPr>
              <a:t>오후 첨두 1시간 진입방향별 교통량 (대)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진입 교통량</c:v>
                </c:pt>
              </c:strCache>
            </c:strRef>
          </c:tx>
          <c:spPr>
            <a:solidFill>
              <a:srgbClr val="1F2A5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323-4911-8DE0-944224C9CF96}"/>
              </c:ext>
            </c:extLst>
          </c:dPt>
          <c:dPt>
            <c:idx val="1"/>
            <c:invertIfNegative val="0"/>
            <c:bubble3D val="0"/>
            <c:spPr>
              <a:solidFill>
                <a:srgbClr val="8FB3E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323-4911-8DE0-944224C9CF96}"/>
              </c:ext>
            </c:extLst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323-4911-8DE0-944224C9CF96}"/>
              </c:ext>
            </c:extLst>
          </c:dPt>
          <c:dPt>
            <c:idx val="3"/>
            <c:invertIfNegative val="0"/>
            <c:bubble3D val="0"/>
            <c:spPr>
              <a:solidFill>
                <a:srgbClr val="8FB3E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323-4911-8DE0-944224C9CF9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F36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서쪽에서 진입</c:v>
                </c:pt>
                <c:pt idx="1">
                  <c:v>동쪽에서 진입</c:v>
                </c:pt>
                <c:pt idx="2">
                  <c:v>남쪽에서 진입</c:v>
                </c:pt>
                <c:pt idx="3">
                  <c:v>북쪽에서 진입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1992</c:v>
                </c:pt>
                <c:pt idx="1">
                  <c:v>1755</c:v>
                </c:pt>
                <c:pt idx="2">
                  <c:v>1295</c:v>
                </c:pt>
                <c:pt idx="3">
                  <c:v>1127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323-4911-8DE0-944224C9CF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B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F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발표 개요: 고속도로 기본구간(수도권제1순환고속도로 성남TG→송파IC 방향)과 신호교차로(태릉입구역 교차로)를 대상으로 선정했고, 이번 중간발표는 대상 선정과 자료 확보·예비 검토 단계까지를 다룹니다. 최종 용량·서비스수준 결과는 아직 없습니다.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성남TG→송파IC 방향 중 편도 4차로가 유지되는 구간을 선택했습니다. 분석구간은 접속부 영향구간을 제외하도록 설정했습니다. 왼쪽 지도는 분석 대상 구간, 오른쪽 지도는 VDS 3개소의 위치입니다. 경계는 잠정이며, 선택한 기본구간 길이는 아직 확정하지 않았습니다.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대표 분석지점은 00700, 비교 지점은 00800입니다. 두 지점의 5일간 하루 교통량 차이는 약 1.9~3.7%로 흐름이 유사했습니다. 차로폭·측방여유폭·종단경사·중차량 구성비와 정확한 VDS 설치 위치는 아직 확보·확인되지 않았습니다.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태릉입구역 교차로는 스마트교차로 교통량 자료를 얻을 수 있고 현장 접근이 가능해 선정했습니다. 차로 구성은 지도·거리뷰로 잠정 확인한 것으로 현장조사에서 대조할 예정입니다.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2026년 9월 29일 하루 자료로, 회전별 5분 교통량을 연속 12개씩 합산해 첨두 1시간을 찾았습니다. 오후 17:20~18:20이 6,169대로 오전보다 많았고, 방향별로는 서쪽 진입이 1,992대로 가장 많았습니다. 한 날짜 결과이므로 일반적인 첨두시간으로 확정하지는 않습니다.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교차로 현장조사는 평일 아침 또는 주말 중 가능한 시간에 진행할 예정이며 구체적 일정은 미정입니다. 신호는 3~5주기 반복 관측합니다. 고속도로는 공개자료와 기관 문의로 도로 조건, 중차량 구성비, VDS 설치정보를 보완합니다. 이후 자료 대조와 시간대 일치를 거쳐 용량·서비스수준 분석을 진행합니다.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서울시립대학교  |  교통 용량 분석 과제 중간발표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서울시립대학교  |  교통 용량 분석 과제 중간발표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2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3.xml"  /><Relationship Id="rId3" Type="http://schemas.openxmlformats.org/officeDocument/2006/relationships/image" Target="../media/image1.png"  /><Relationship Id="rId4" Type="http://schemas.openxmlformats.org/officeDocument/2006/relationships/image" Target="../media/image2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4.xml"  /><Relationship Id="rIdTR1" Type="http://schemas.openxmlformats.org/officeDocument/2006/relationships/image" Target="../media/image3.jpeg"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Relationship Id="rId3" Type="http://schemas.openxmlformats.org/officeDocument/2006/relationships/chart" Target="../charts/chart1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서울시립대학교  ·  교통 용량 분석 과제 중간발표</a:t>
            </a:r>
            <a:endParaRPr lang="en-US" sz="14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tx2"/>
                </a:solidFill>
              </a:rPr>
              <a:t>고속도로 기본구간 및 신호교차로</a:t>
            </a:r>
            <a:endParaRPr lang="en-US" sz="3400" b="1">
              <a:solidFill>
                <a:schemeClr val="tx2"/>
              </a:solidFill>
            </a:endParaRPr>
          </a:p>
          <a:p>
            <a:pPr marL="0" indent="0" algn="l">
              <a:buNone/>
              <a:defRPr/>
            </a:pPr>
            <a:r>
              <a:rPr lang="en-US" sz="3400" b="1">
                <a:solidFill>
                  <a:schemeClr val="tx2"/>
                </a:solidFill>
              </a:rPr>
              <a:t>분석 대상 선정과 조사 계획</a:t>
            </a:r>
            <a:endParaRPr lang="en-US" sz="3400"/>
          </a:p>
        </p:txBody>
      </p:sp>
      <p:sp>
        <p:nvSpPr>
          <p:cNvPr id="4" name="card-1"/>
          <p:cNvSpPr/>
          <p:nvPr/>
        </p:nvSpPr>
        <p:spPr>
          <a:xfrm>
            <a:off x="548640" y="2468880"/>
            <a:ext cx="32918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고속도로 기본구간</a:t>
            </a:r>
            <a:endParaRPr lang="en-US" sz="1200" b="1">
              <a:solidFill>
                <a:schemeClr val="accent1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800" b="1">
                <a:solidFill>
                  <a:schemeClr val="tx2"/>
                </a:solidFill>
              </a:rPr>
              <a:t>수도권제1순환고속도로</a:t>
            </a:r>
            <a:endParaRPr lang="en-US" sz="1800" b="1">
              <a:solidFill>
                <a:schemeClr val="tx2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성남TG → 송파IC 방향</a:t>
            </a:r>
            <a:endParaRPr lang="en-US" sz="1200"/>
          </a:p>
        </p:txBody>
      </p:sp>
      <p:sp>
        <p:nvSpPr>
          <p:cNvPr id="6" name="card-2"/>
          <p:cNvSpPr/>
          <p:nvPr/>
        </p:nvSpPr>
        <p:spPr>
          <a:xfrm>
            <a:off x="4114800" y="2468880"/>
            <a:ext cx="32918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389120" y="26060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신호교차로</a:t>
            </a:r>
            <a:endParaRPr lang="en-US" sz="1200" b="1">
              <a:solidFill>
                <a:schemeClr val="accent1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800" b="1">
                <a:solidFill>
                  <a:schemeClr val="tx2"/>
                </a:solidFill>
              </a:rPr>
              <a:t>태릉입구역 교차로</a:t>
            </a:r>
            <a:endParaRPr lang="en-US" sz="1800" b="1">
              <a:solidFill>
                <a:schemeClr val="tx2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화랑로 × 동일로 사거리</a:t>
            </a:r>
            <a:endParaRPr lang="en-US" sz="1200"/>
          </a:p>
        </p:txBody>
      </p:sp>
      <p:sp>
        <p:nvSpPr>
          <p:cNvPr id="8" name="head-3"/>
          <p:cNvSpPr txBox="1"/>
          <p:nvPr/>
        </p:nvSpPr>
        <p:spPr>
          <a:xfrm>
            <a:off x="548640" y="4069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2"/>
                </a:solidFill>
              </a:rPr>
              <a:t>진행 순서</a:t>
            </a:r>
            <a:endParaRPr lang="en-US" sz="1600"/>
          </a:p>
        </p:txBody>
      </p:sp>
      <p:sp>
        <p:nvSpPr>
          <p:cNvPr id="9" name="step-4"/>
          <p:cNvSpPr txBox="1"/>
          <p:nvPr/>
        </p:nvSpPr>
        <p:spPr>
          <a:xfrm>
            <a:off x="548640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tx2"/>
            </a:solidFill>
          </a:ln>
        </p:spPr>
        <p:txBody>
          <a:bodyPr wrap="square" lIns="25400" tIns="25400" rIns="25400" bIns="2540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1  대상 선정</a:t>
            </a:r>
            <a:endParaRPr lang="en-US" sz="1400"/>
          </a:p>
        </p:txBody>
      </p:sp>
      <p:sp>
        <p:nvSpPr>
          <p:cNvPr id="10" name="arrow-5"/>
          <p:cNvSpPr/>
          <p:nvPr/>
        </p:nvSpPr>
        <p:spPr>
          <a:xfrm rot="5400000">
            <a:off x="2093976" y="4869180"/>
            <a:ext cx="182880" cy="18288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tep-6"/>
          <p:cNvSpPr txBox="1"/>
          <p:nvPr/>
        </p:nvSpPr>
        <p:spPr>
          <a:xfrm>
            <a:off x="2340864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tx2"/>
            </a:solidFill>
          </a:ln>
        </p:spPr>
        <p:txBody>
          <a:bodyPr wrap="square" lIns="25400" tIns="25400" rIns="25400" bIns="2540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2  자료 확보·</a:t>
            </a:r>
            <a:endParaRPr lang="en-US" sz="1400" b="1">
              <a:solidFill>
                <a:schemeClr val="bg1"/>
              </a:solidFill>
            </a:endParaRPr>
          </a:p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예비 검토</a:t>
            </a:r>
            <a:endParaRPr lang="en-US" sz="1400"/>
          </a:p>
        </p:txBody>
      </p:sp>
      <p:sp>
        <p:nvSpPr>
          <p:cNvPr id="12" name="arrow-7"/>
          <p:cNvSpPr/>
          <p:nvPr/>
        </p:nvSpPr>
        <p:spPr>
          <a:xfrm rot="5400000">
            <a:off x="3886200" y="4869180"/>
            <a:ext cx="182880" cy="18288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step-8"/>
          <p:cNvSpPr txBox="1"/>
          <p:nvPr/>
        </p:nvSpPr>
        <p:spPr>
          <a:xfrm>
            <a:off x="4133088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 wrap="square" lIns="25400" tIns="25400" rIns="25400" bIns="2540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tx2"/>
                </a:solidFill>
              </a:rPr>
              <a:t>3  현장조사</a:t>
            </a:r>
            <a:endParaRPr lang="en-US" sz="1400"/>
          </a:p>
        </p:txBody>
      </p:sp>
      <p:sp>
        <p:nvSpPr>
          <p:cNvPr id="14" name="arrow-9"/>
          <p:cNvSpPr/>
          <p:nvPr/>
        </p:nvSpPr>
        <p:spPr>
          <a:xfrm rot="5400000">
            <a:off x="5678424" y="4869180"/>
            <a:ext cx="182880" cy="18288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step-10"/>
          <p:cNvSpPr txBox="1"/>
          <p:nvPr/>
        </p:nvSpPr>
        <p:spPr>
          <a:xfrm>
            <a:off x="5925312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 wrap="square" lIns="25400" tIns="25400" rIns="25400" bIns="2540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tx2"/>
                </a:solidFill>
              </a:rPr>
              <a:t>4  용량·서비스</a:t>
            </a:r>
            <a:endParaRPr lang="en-US" sz="1400" b="1">
              <a:solidFill>
                <a:schemeClr val="tx2"/>
              </a:solidFill>
            </a:endParaRPr>
          </a:p>
          <a:p>
            <a:pPr marL="0" indent="0" algn="ctr">
              <a:buNone/>
              <a:defRPr/>
            </a:pPr>
            <a:r>
              <a:rPr lang="en-US" sz="1400" b="1">
                <a:solidFill>
                  <a:schemeClr val="tx2"/>
                </a:solidFill>
              </a:rPr>
              <a:t>수준 분석</a:t>
            </a:r>
            <a:endParaRPr lang="en-US" sz="1400"/>
          </a:p>
        </p:txBody>
      </p:sp>
      <p:sp>
        <p:nvSpPr>
          <p:cNvPr id="16" name="Text 14"/>
          <p:cNvSpPr txBox="1"/>
          <p:nvPr/>
        </p:nvSpPr>
        <p:spPr>
          <a:xfrm>
            <a:off x="548640" y="5532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중간발표: 대상 선정·자료 확보 현황·현장조사 계획  /  이후 진행: ③~④</a:t>
            </a:r>
            <a:endParaRPr lang="en-US" sz="1200">
              <a:solidFill>
                <a:schemeClr val="accent5"/>
              </a:solidFill>
            </a:endParaRPr>
          </a:p>
        </p:txBody>
      </p:sp>
      <p:sp>
        <p:nvSpPr>
          <p:cNvPr id="17" name="head-11"/>
          <p:cNvSpPr txBox="1"/>
          <p:nvPr/>
        </p:nvSpPr>
        <p:spPr>
          <a:xfrm>
            <a:off x="7680960" y="2423160"/>
            <a:ext cx="3959352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2"/>
                </a:solidFill>
              </a:rPr>
              <a:t>팀원 및 업무분담</a:t>
            </a:r>
            <a:endParaRPr lang="en-US" sz="1600"/>
          </a:p>
        </p:txBody>
      </p:sp>
      <p:graphicFrame>
        <p:nvGraphicFramePr>
          <p:cNvPr id="18" name="team-table"/>
          <p:cNvGraphicFramePr>
            <a:graphicFrameLocks noGrp="1"/>
          </p:cNvGraphicFramePr>
          <p:nvPr/>
        </p:nvGraphicFramePr>
        <p:xfrm>
          <a:off x="7680960" y="2880360"/>
          <a:ext cx="3959352" cy="1850026"/>
        </p:xfrm>
        <a:graphic>
          <a:graphicData uri="http://schemas.openxmlformats.org/drawingml/2006/table">
            <a:tbl>
              <a:tblPr firstRow="1" bandRow="1"/>
              <a:tblGrid>
                <a:gridCol w="1234440"/>
                <a:gridCol w="2724912"/>
              </a:tblGrid>
              <a:tr h="616675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bg1"/>
                          </a:solidFill>
                        </a:rPr>
                        <a:t>이름</a:t>
                      </a:r>
                      <a:endParaRPr 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bg1"/>
                          </a:solidFill>
                        </a:rPr>
                        <a:t>담당 업무</a:t>
                      </a:r>
                      <a:endParaRPr 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tx2"/>
                    </a:solidFill>
                  </a:tcPr>
                </a:tc>
              </a:tr>
              <a:tr h="616675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ko-KR" altLang="en-US" sz="1300"/>
                        <a:t>전현규</a:t>
                      </a:r>
                      <a:endParaRPr 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ko-KR" altLang="en-US" sz="1300"/>
                        <a:t>발표</a:t>
                      </a:r>
                      <a:r>
                        <a:rPr lang="en-US" altLang="ko-KR" sz="1300"/>
                        <a:t>, </a:t>
                      </a:r>
                      <a:r>
                        <a:rPr lang="ko-KR" altLang="en-US" sz="1300"/>
                        <a:t>고속도로 자료 정리</a:t>
                      </a:r>
                      <a:r>
                        <a:rPr lang="en-US" altLang="ko-KR" sz="1300"/>
                        <a:t>,</a:t>
                      </a:r>
                      <a:endParaRPr lang="ko-KR" altLang="en-US" sz="1300"/>
                    </a:p>
                    <a:p>
                      <a:pPr marL="0" indent="0" algn="ctr">
                        <a:buNone/>
                        <a:defRPr/>
                      </a:pPr>
                      <a:r>
                        <a:rPr lang="ko-KR" altLang="en-US" sz="1300"/>
                        <a:t>현장 신호 조사</a:t>
                      </a:r>
                      <a:endParaRPr lang="ko-KR" alt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</a:tr>
              <a:tr h="616675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ko-KR" altLang="en-US" sz="1300"/>
                        <a:t>송동석</a:t>
                      </a:r>
                      <a:endParaRPr 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ko-KR" altLang="en-US" sz="1300"/>
                        <a:t>발표</a:t>
                      </a:r>
                      <a:r>
                        <a:rPr lang="en-US" altLang="ko-KR" sz="1300"/>
                        <a:t>, </a:t>
                      </a:r>
                      <a:r>
                        <a:rPr lang="en-US" sz="1300"/>
                        <a:t>교차로 교통량 분석</a:t>
                      </a:r>
                      <a:r>
                        <a:rPr lang="en-US" altLang="ko-KR" sz="1300"/>
                        <a:t>,</a:t>
                      </a:r>
                      <a:endParaRPr lang="ko-KR" altLang="en-US" sz="1300"/>
                    </a:p>
                    <a:p>
                      <a:pPr marL="0" indent="0" algn="ctr">
                        <a:buNone/>
                        <a:defRPr/>
                      </a:pPr>
                      <a:r>
                        <a:rPr lang="ko-KR" altLang="en-US" sz="1300"/>
                        <a:t>결과 취합</a:t>
                      </a:r>
                      <a:endParaRPr lang="ko-KR" alt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date-table"/>
          <p:cNvGraphicFramePr>
            <a:graphicFrameLocks noGrp="1"/>
          </p:cNvGraphicFramePr>
          <p:nvPr/>
        </p:nvGraphicFramePr>
        <p:xfrm>
          <a:off x="7680960" y="5257800"/>
          <a:ext cx="3959352" cy="438912"/>
        </p:xfrm>
        <a:graphic>
          <a:graphicData uri="http://schemas.openxmlformats.org/drawingml/2006/table">
            <a:tbl>
              <a:tblPr firstRow="1" bandRow="1"/>
              <a:tblGrid>
                <a:gridCol w="1234440"/>
                <a:gridCol w="2724912"/>
              </a:tblGrid>
              <a:tr h="438912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2"/>
                          </a:solidFill>
                        </a:rPr>
                        <a:t>발표일</a:t>
                      </a:r>
                      <a:endParaRPr 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300"/>
                        <a:t>2026.10.14</a:t>
                      </a:r>
                      <a:endParaRPr lang="en-US" sz="1300"/>
                    </a:p>
                  </a:txBody>
                  <a:tcPr marL="91440" marR="9144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tx2"/>
                </a:solidFill>
              </a:rPr>
              <a:t>고속도로 기본구간 선정</a:t>
            </a:r>
            <a:endParaRPr lang="en-US" sz="3000"/>
          </a:p>
        </p:txBody>
      </p:sp>
      <p:sp>
        <p:nvSpPr>
          <p:cNvPr id="3" name="image-slot-12"/>
          <p:cNvSpPr/>
          <p:nvPr/>
        </p:nvSpPr>
        <p:spPr>
          <a:xfrm>
            <a:off x="548640" y="1234440"/>
            <a:ext cx="6400800" cy="420624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card-14"/>
          <p:cNvSpPr/>
          <p:nvPr/>
        </p:nvSpPr>
        <p:spPr>
          <a:xfrm>
            <a:off x="7269480" y="1234440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0" y="13258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대상</a:t>
            </a:r>
            <a:endParaRPr lang="en-US" sz="1200"/>
          </a:p>
        </p:txBody>
      </p:sp>
      <p:sp>
        <p:nvSpPr>
          <p:cNvPr id="7" name="Text 5"/>
          <p:cNvSpPr txBox="1"/>
          <p:nvPr/>
        </p:nvSpPr>
        <p:spPr>
          <a:xfrm>
            <a:off x="7498080" y="1581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tx1"/>
                </a:solidFill>
              </a:rPr>
              <a:t>성남TG → 송파IC 방향의 선택 구간</a:t>
            </a:r>
            <a:endParaRPr lang="en-US" sz="1400"/>
          </a:p>
        </p:txBody>
      </p:sp>
      <p:sp>
        <p:nvSpPr>
          <p:cNvPr id="8" name="card-15"/>
          <p:cNvSpPr/>
          <p:nvPr/>
        </p:nvSpPr>
        <p:spPr>
          <a:xfrm>
            <a:off x="7269480" y="2093976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7498080" y="21854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분석 구간 설정</a:t>
            </a:r>
            <a:endParaRPr lang="en-US" sz="1200"/>
          </a:p>
        </p:txBody>
      </p:sp>
      <p:sp>
        <p:nvSpPr>
          <p:cNvPr id="10" name="Text 8"/>
          <p:cNvSpPr txBox="1"/>
          <p:nvPr/>
        </p:nvSpPr>
        <p:spPr>
          <a:xfrm>
            <a:off x="7498080" y="24414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접속부 영향구간을 제외하도록 분석구간 설정</a:t>
            </a:r>
            <a:endParaRPr lang="en-US" sz="1400"/>
          </a:p>
        </p:txBody>
      </p:sp>
      <p:sp>
        <p:nvSpPr>
          <p:cNvPr id="11" name="card-16"/>
          <p:cNvSpPr/>
          <p:nvPr/>
        </p:nvSpPr>
        <p:spPr>
          <a:xfrm>
            <a:off x="7269480" y="2953512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498080" y="30449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차로 조건</a:t>
            </a:r>
            <a:endParaRPr lang="en-US" sz="1200"/>
          </a:p>
        </p:txBody>
      </p:sp>
      <p:sp>
        <p:nvSpPr>
          <p:cNvPr id="13" name="chip-17"/>
          <p:cNvSpPr txBox="1"/>
          <p:nvPr/>
        </p:nvSpPr>
        <p:spPr>
          <a:xfrm>
            <a:off x="10881360" y="3044952"/>
            <a:ext cx="530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chemeClr val="bg1"/>
                </a:solidFill>
              </a:rPr>
              <a:t>확인</a:t>
            </a:r>
            <a:endParaRPr lang="en-US" sz="1100"/>
          </a:p>
        </p:txBody>
      </p:sp>
      <p:sp>
        <p:nvSpPr>
          <p:cNvPr id="14" name="Text 12"/>
          <p:cNvSpPr txBox="1"/>
          <p:nvPr/>
        </p:nvSpPr>
        <p:spPr>
          <a:xfrm>
            <a:off x="7498080" y="330098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선택 구간 내 편도 4차로 유지</a:t>
            </a:r>
            <a:endParaRPr lang="en-US" sz="1400"/>
          </a:p>
        </p:txBody>
      </p:sp>
      <p:sp>
        <p:nvSpPr>
          <p:cNvPr id="15" name="card-18"/>
          <p:cNvSpPr/>
          <p:nvPr/>
        </p:nvSpPr>
        <p:spPr>
          <a:xfrm>
            <a:off x="7269480" y="3813048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7498080" y="39044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선정 이유</a:t>
            </a:r>
            <a:endParaRPr lang="en-US" sz="1200"/>
          </a:p>
        </p:txBody>
      </p:sp>
      <p:sp>
        <p:nvSpPr>
          <p:cNvPr id="17" name="Text 15"/>
          <p:cNvSpPr txBox="1"/>
          <p:nvPr/>
        </p:nvSpPr>
        <p:spPr>
          <a:xfrm>
            <a:off x="7498080" y="416052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차로 수 일정 · 인접 VDS 자료 비교·검토 가능</a:t>
            </a:r>
            <a:endParaRPr lang="en-US" sz="1400"/>
          </a:p>
        </p:txBody>
      </p:sp>
      <p:sp>
        <p:nvSpPr>
          <p:cNvPr id="18" name="card-19"/>
          <p:cNvSpPr/>
          <p:nvPr/>
        </p:nvSpPr>
        <p:spPr>
          <a:xfrm>
            <a:off x="7269480" y="4672584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7498080" y="47640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선택한 기본구간 길이</a:t>
            </a:r>
            <a:endParaRPr lang="en-US" sz="1200"/>
          </a:p>
        </p:txBody>
      </p:sp>
      <p:sp>
        <p:nvSpPr>
          <p:cNvPr id="20" name="chip-20"/>
          <p:cNvSpPr txBox="1"/>
          <p:nvPr/>
        </p:nvSpPr>
        <p:spPr>
          <a:xfrm>
            <a:off x="10497312" y="476402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chemeClr val="accent4"/>
                </a:solidFill>
              </a:rPr>
              <a:t>추가 확인</a:t>
            </a:r>
            <a:endParaRPr lang="en-US" sz="1100"/>
          </a:p>
        </p:txBody>
      </p:sp>
      <p:sp>
        <p:nvSpPr>
          <p:cNvPr id="21" name="Text 19"/>
          <p:cNvSpPr txBox="1"/>
          <p:nvPr/>
        </p:nvSpPr>
        <p:spPr>
          <a:xfrm>
            <a:off x="7498080" y="502005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미확정</a:t>
            </a:r>
            <a:endParaRPr lang="en-US" sz="1400"/>
          </a:p>
        </p:txBody>
      </p:sp>
      <p:sp>
        <p:nvSpPr>
          <p:cNvPr id="22" name="notes-2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※ 분석구간 경계는 잠정이며, 접속부 영향구간 제외 여부는 자료·현장 검토로 재확인 예정</a:t>
            </a:r>
            <a:endParaRPr lang="en-US" sz="1200">
              <a:solidFill>
                <a:schemeClr val="accent5"/>
              </a:solidFill>
            </a:endParaRPr>
          </a:p>
          <a:p>
            <a:pPr marL="0" indent="0">
              <a:spcAft>
                <a:spcPts val="200"/>
              </a:spcAft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※ VDS 지도 위치는 도로 이정 기반 근사 위치이며, 정확한 설치 위치는 추가 확인 예정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pPr algn="r">
                <a:defRPr/>
              </a:pPr>
              <a:t>2</a:t>
            </a:fld>
            <a:endParaRPr lang="en-US"/>
          </a:p>
        </p:txBody>
      </p:sp>
      <p:pic>
        <p:nvPicPr>
          <p:cNvPr id="26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83871" y="1216900"/>
            <a:ext cx="2368395" cy="4197096"/>
          </a:xfrm>
          <a:prstGeom prst="rect">
            <a:avLst/>
          </a:prstGeom>
        </p:spPr>
      </p:pic>
      <p:pic>
        <p:nvPicPr>
          <p:cNvPr id="27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3356" y="1216900"/>
            <a:ext cx="2695951" cy="4168167"/>
          </a:xfrm>
          <a:prstGeom prst="rect">
            <a:avLst/>
          </a:prstGeom>
        </p:spPr>
      </p:pic>
      <p:sp>
        <p:nvSpPr>
          <p:cNvPr id="101" name="caption-section"/>
          <p:cNvSpPr txBox="1"/>
          <p:nvPr/>
        </p:nvSpPr>
        <p:spPr>
          <a:xfrm>
            <a:off x="841248" y="1307592"/>
            <a:ext cx="1325880" cy="2743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txBody>
          <a:bodyPr wrap="none" lIns="45720" rIns="45720" tIns="18288" bIns="18288" anchor="ctr">
            <a:noAutofit/>
          </a:bodyPr>
          <a:lstStyle/>
          <a:p>
            <a:pPr algn="ctr"/>
            <a:r>
              <a:rPr lang="ko-KR" altLang="en-US" sz="1100" b="1">
                <a:solidFill>
                  <a:schemeClr val="bg1"/>
                </a:solidFill>
              </a:rPr>
              <a:t>① 분석 대상 구간</a:t>
            </a:r>
          </a:p>
        </p:txBody>
      </p:sp>
      <p:sp>
        <p:nvSpPr>
          <p:cNvPr id="102" name="caption-vds"/>
          <p:cNvSpPr txBox="1"/>
          <p:nvPr/>
        </p:nvSpPr>
        <p:spPr>
          <a:xfrm>
            <a:off x="4078224" y="1307592"/>
            <a:ext cx="1371600" cy="2743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txBody>
          <a:bodyPr wrap="none" lIns="45720" rIns="45720" tIns="18288" bIns="18288" anchor="ctr">
            <a:noAutofit/>
          </a:bodyPr>
          <a:lstStyle/>
          <a:p>
            <a:pPr algn="ctr"/>
            <a:r>
              <a:rPr lang="ko-KR" altLang="en-US" sz="1100" b="1">
                <a:solidFill>
                  <a:schemeClr val="bg1"/>
                </a:solidFill>
              </a:rPr>
              <a:t>② VDS 위치 (3개소)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고속도로 입력자료 확보 현황</a:t>
            </a:r>
            <a:endParaRPr lang="en-US" sz="3000" dirty="0"/>
          </a:p>
        </p:txBody>
      </p:sp>
      <p:graphicFrame>
        <p:nvGraphicFramePr>
          <p:cNvPr id="4" name="hw-inp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680960" cy="91440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현재 상태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대표 분석지점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1000VDE00700, 이정 6.50km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비교 지점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1000VDE00800, 이정 7.20km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교통량·속도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2026년 6월 15·16·17·22·23일 5분 자료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자료 일관성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두 지점 5일간 일 교통량 차이 약 1.9~3.7%, 시간대별 흐름 유사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검토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대표 지점 원시자료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00700의 1~4차로 기록 확인, 5분 통계와 거의 일치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추가 확보 항목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차로폭 · 측방여유폭 · 종단경사 · 중차량 구성비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추가 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추가 확인 항목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정확한 VDS 설치 위치, 00800의 집계 차로 범위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추가 확인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card-22"/>
          <p:cNvSpPr/>
          <p:nvPr/>
        </p:nvSpPr>
        <p:spPr>
          <a:xfrm>
            <a:off x="8503920" y="123444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head-23"/>
          <p:cNvSpPr txBox="1"/>
          <p:nvPr/>
        </p:nvSpPr>
        <p:spPr>
          <a:xfrm>
            <a:off x="8732520" y="137160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자료 활용·보완 계획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828800"/>
            <a:ext cx="27249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인접 VDS 교통량은 합산하지 않고, 대표 지점 분석과 비교 검토에 활용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중차량 구성비: 대상 구간 직접 AVC 자료 미확보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도로 조건: 도로대장·설계자료로 보완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설치정보: 제공기관 문의로 보완</a:t>
            </a:r>
            <a:endParaRPr lang="en-US" sz="1400" dirty="0"/>
          </a:p>
        </p:txBody>
      </p:sp>
      <p:sp>
        <p:nvSpPr>
          <p:cNvPr id="7" name="chip-24"/>
          <p:cNvSpPr txBox="1"/>
          <p:nvPr/>
        </p:nvSpPr>
        <p:spPr>
          <a:xfrm>
            <a:off x="548640" y="546811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확보·확인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54681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자료 확보 또는 검토 완료</a:t>
            </a:r>
            <a:endParaRPr lang="en-US" sz="1100" dirty="0"/>
          </a:p>
        </p:txBody>
      </p:sp>
      <p:sp>
        <p:nvSpPr>
          <p:cNvPr id="9" name="chip-25"/>
          <p:cNvSpPr txBox="1"/>
          <p:nvPr/>
        </p:nvSpPr>
        <p:spPr>
          <a:xfrm>
            <a:off x="3886200" y="546811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4"/>
                </a:solidFill>
              </a:rPr>
              <a:t>추가 확인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미확보·미확인, 추후 보완</a:t>
            </a:r>
            <a:endParaRPr lang="en-US" sz="1100" dirty="0"/>
          </a:p>
        </p:txBody>
      </p:sp>
      <p:sp>
        <p:nvSpPr>
          <p:cNvPr id="11" name="source-26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출처: 한국도로공사 VDS 5분 통계 및 차로별 원시자료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태릉입구역 교차로 선정 및 차로 구성</a:t>
            </a:r>
            <a:endParaRPr lang="en-US" sz="3000" dirty="0"/>
          </a:p>
        </p:txBody>
      </p:sp>
      <p:pic>
        <p:nvPicPr>
          <p:cNvPr id="110" name="intersection-photo" descr="태릉입구역 교차로 위성사진"/>
          <p:cNvPicPr>
            <a:picLocks noChangeAspect="1"/>
          </p:cNvPicPr>
          <p:nvPr/>
        </p:nvPicPr>
        <p:blipFill>
          <a:blip r:embed="rIdTR1"/>
          <a:stretch>
            <a:fillRect/>
          </a:stretch>
        </p:blipFill>
        <p:spPr>
          <a:xfrm>
            <a:off x="548640" y="1234440"/>
            <a:ext cx="3657600" cy="4206240"/>
          </a:xfrm>
          <a:prstGeom prst="rect">
            <a:avLst/>
          </a:prstGeom>
        </p:spPr>
      </p:pic>
      <p:sp>
        <p:nvSpPr>
          <p:cNvPr id="111" name="approach-N"/>
          <p:cNvSpPr txBox="1"/>
          <p:nvPr/>
        </p:nvSpPr>
        <p:spPr>
          <a:xfrm>
            <a:off x="1143000" y="1325880"/>
            <a:ext cx="2057400" cy="274320"/>
          </a:xfrm>
          <a:prstGeom prst="round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45720" rIns="45720" tIns="18288" bIns="18288" anchor="ctr">
            <a:noAutofit/>
          </a:bodyPr>
          <a:lstStyle/>
          <a:p>
            <a:pPr algn="ctr"/>
            <a:r>
              <a:rPr lang="ko-KR" altLang="en-US" sz="1100" b="1">
                <a:solidFill>
                  <a:schemeClr val="tx2"/>
                </a:solidFill>
              </a:rPr>
              <a:t>↓ 동일로 북쪽 (공릉역 쪽)</a:t>
            </a:r>
          </a:p>
        </p:txBody>
      </p:sp>
      <p:sp>
        <p:nvSpPr>
          <p:cNvPr id="112" name="approach-E"/>
          <p:cNvSpPr txBox="1"/>
          <p:nvPr/>
        </p:nvSpPr>
        <p:spPr>
          <a:xfrm>
            <a:off x="2788920" y="2011680"/>
            <a:ext cx="1325880" cy="274320"/>
          </a:xfrm>
          <a:prstGeom prst="round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45720" rIns="45720" tIns="18288" bIns="18288" anchor="ctr">
            <a:noAutofit/>
          </a:bodyPr>
          <a:lstStyle/>
          <a:p>
            <a:pPr algn="ctr"/>
            <a:r>
              <a:rPr lang="ko-KR" altLang="en-US" sz="1100" b="1">
                <a:solidFill>
                  <a:schemeClr val="tx2"/>
                </a:solidFill>
              </a:rPr>
              <a:t>← 화랑로 동쪽</a:t>
            </a:r>
          </a:p>
        </p:txBody>
      </p:sp>
      <p:sp>
        <p:nvSpPr>
          <p:cNvPr id="113" name="approach-W"/>
          <p:cNvSpPr txBox="1"/>
          <p:nvPr/>
        </p:nvSpPr>
        <p:spPr>
          <a:xfrm>
            <a:off x="640080" y="3200400"/>
            <a:ext cx="2057400" cy="274320"/>
          </a:xfrm>
          <a:prstGeom prst="round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45720" rIns="45720" tIns="18288" bIns="18288" anchor="ctr">
            <a:noAutofit/>
          </a:bodyPr>
          <a:lstStyle/>
          <a:p>
            <a:pPr algn="ctr"/>
            <a:r>
              <a:rPr lang="ko-KR" altLang="en-US" sz="1100" b="1">
                <a:solidFill>
                  <a:schemeClr val="tx2"/>
                </a:solidFill>
              </a:rPr>
              <a:t>화랑로 서쪽 (석계역 쪽) →</a:t>
            </a:r>
          </a:p>
        </p:txBody>
      </p:sp>
      <p:sp>
        <p:nvSpPr>
          <p:cNvPr id="114" name="approach-S"/>
          <p:cNvSpPr txBox="1"/>
          <p:nvPr/>
        </p:nvSpPr>
        <p:spPr>
          <a:xfrm>
            <a:off x="2011680" y="5074920"/>
            <a:ext cx="2103120" cy="274320"/>
          </a:xfrm>
          <a:prstGeom prst="round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txBody>
          <a:bodyPr wrap="none" lIns="45720" rIns="45720" tIns="18288" bIns="18288" anchor="ctr">
            <a:noAutofit/>
          </a:bodyPr>
          <a:lstStyle/>
          <a:p>
            <a:pPr algn="ctr"/>
            <a:r>
              <a:rPr lang="ko-KR" altLang="en-US" sz="1100" b="1">
                <a:solidFill>
                  <a:schemeClr val="tx2"/>
                </a:solidFill>
              </a:rPr>
              <a:t>↑ 동일로 남쪽 (먹골역 쪽)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4480560" y="1234440"/>
            <a:ext cx="7159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위치  </a:t>
            </a:r>
            <a:r>
              <a:rPr lang="en-US" sz="1400" dirty="0">
                <a:solidFill>
                  <a:schemeClr val="tx1"/>
                </a:solidFill>
              </a:rPr>
              <a:t>화랑로와 동일로가 만나는 태릉입구역 사거리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1691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선정 이유</a:t>
            </a:r>
            <a:endParaRPr lang="en-US" sz="1400" dirty="0"/>
          </a:p>
        </p:txBody>
      </p:sp>
      <p:sp>
        <p:nvSpPr>
          <p:cNvPr id="13" name="chip-27"/>
          <p:cNvSpPr txBox="1"/>
          <p:nvPr/>
        </p:nvSpPr>
        <p:spPr>
          <a:xfrm>
            <a:off x="5440680" y="1691640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스마트교차로 자료 확보 가능</a:t>
            </a:r>
            <a:endParaRPr lang="en-US" sz="1100" dirty="0"/>
          </a:p>
        </p:txBody>
      </p:sp>
      <p:sp>
        <p:nvSpPr>
          <p:cNvPr id="14" name="chip-28"/>
          <p:cNvSpPr txBox="1"/>
          <p:nvPr/>
        </p:nvSpPr>
        <p:spPr>
          <a:xfrm>
            <a:off x="7744968" y="1691640"/>
            <a:ext cx="1298448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현장 접근 가능</a:t>
            </a:r>
            <a:endParaRPr lang="en-US" sz="1100" dirty="0"/>
          </a:p>
        </p:txBody>
      </p:sp>
      <p:sp>
        <p:nvSpPr>
          <p:cNvPr id="15" name="chip-29"/>
          <p:cNvSpPr txBox="1"/>
          <p:nvPr/>
        </p:nvSpPr>
        <p:spPr>
          <a:xfrm>
            <a:off x="9153144" y="1691640"/>
            <a:ext cx="2066544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회전별·접근로별 분석 가능</a:t>
            </a:r>
            <a:endParaRPr lang="en-US" sz="1100" dirty="0"/>
          </a:p>
        </p:txBody>
      </p:sp>
      <p:graphicFrame>
        <p:nvGraphicFramePr>
          <p:cNvPr id="16" name="lan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2194560"/>
          <a:ext cx="7159752" cy="914400"/>
        </p:xfrm>
        <a:graphic>
          <a:graphicData uri="http://schemas.openxmlformats.org/drawingml/2006/table">
            <a:tbl>
              <a:tblPr/>
              <a:tblGrid>
                <a:gridCol w="149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진입 접근로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차로 수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 (중앙선)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화랑로 동쪽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직진·우회전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화랑로 서쪽</a:t>
                      </a:r>
                      <a:endParaRPr lang="en-US" sz="1200" dirty="0"/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(석계역 쪽)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우회전 전용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동일로 북쪽</a:t>
                      </a:r>
                      <a:endParaRPr lang="en-US" sz="1200" dirty="0"/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(공릉역 쪽)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직진·우회전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동일로 남쪽</a:t>
                      </a:r>
                      <a:endParaRPr lang="en-US" sz="1200" dirty="0"/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(먹골역 쪽)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직진·우회전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480560" y="5239512"/>
            <a:ext cx="7159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차로 구성은 중앙선 쪽부터 표시  ·  음영: 좌회전 포함 차로</a:t>
            </a:r>
            <a:endParaRPr lang="en-US" sz="1100" dirty="0"/>
          </a:p>
        </p:txBody>
      </p:sp>
      <p:sp>
        <p:nvSpPr>
          <p:cNvPr id="18" name="notes-30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지도·거리뷰로 잠정 확인한 구성이며, 현장에서 대조 예정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버스전용차로 위치·운영시간·적용 범위와 유턴 조건은 현장 표지판으로 확인 예정</a:t>
            </a:r>
            <a:endParaRPr lang="en-US" sz="1200" dirty="0"/>
          </a:p>
        </p:txBody>
      </p:sp>
      <p:sp>
        <p:nvSpPr>
          <p:cNvPr id="19" name="source-31"/>
          <p:cNvSpPr txBox="1"/>
          <p:nvPr/>
        </p:nvSpPr>
        <p:spPr>
          <a:xfrm>
            <a:off x="548640" y="61447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출처: 네이버지도 위성사진·거리뷰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교차로 교통량 예비 분석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188720"/>
            <a:ext cx="2514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43584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자료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서울시 T-DATA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스마트교차로 5분 교통량</a:t>
            </a:r>
            <a:endParaRPr lang="en-US" sz="1100" dirty="0"/>
          </a:p>
        </p:txBody>
      </p:sp>
      <p:sp>
        <p:nvSpPr>
          <p:cNvPr id="5" name="card-33"/>
          <p:cNvSpPr/>
          <p:nvPr/>
        </p:nvSpPr>
        <p:spPr>
          <a:xfrm>
            <a:off x="3246120" y="118872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10712" y="1243584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날짜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2026년 9월 29일</a:t>
            </a:r>
            <a:endParaRPr lang="en-US" sz="1100" dirty="0"/>
          </a:p>
        </p:txBody>
      </p:sp>
      <p:sp>
        <p:nvSpPr>
          <p:cNvPr id="7" name="card-34"/>
          <p:cNvSpPr/>
          <p:nvPr/>
        </p:nvSpPr>
        <p:spPr>
          <a:xfrm>
            <a:off x="525780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22392" y="1243584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대상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태릉입구역 교차로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(ID 172)</a:t>
            </a:r>
            <a:endParaRPr lang="en-US" sz="1100" dirty="0"/>
          </a:p>
        </p:txBody>
      </p:sp>
      <p:sp>
        <p:nvSpPr>
          <p:cNvPr id="9" name="card-35"/>
          <p:cNvSpPr/>
          <p:nvPr/>
        </p:nvSpPr>
        <p:spPr>
          <a:xfrm>
            <a:off x="7406640" y="1188720"/>
            <a:ext cx="4206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71232" y="1243584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방법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회전별 5분 VOL 연속 12개 합산 → 첨두 1시간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(좌회전·직진·우회전·유턴 모두 포함)</a:t>
            </a:r>
            <a:endParaRPr lang="en-US" sz="1100" dirty="0"/>
          </a:p>
        </p:txBody>
      </p:sp>
      <p:sp>
        <p:nvSpPr>
          <p:cNvPr id="11" name="card-36"/>
          <p:cNvSpPr/>
          <p:nvPr/>
        </p:nvSpPr>
        <p:spPr>
          <a:xfrm>
            <a:off x="548640" y="2286000"/>
            <a:ext cx="365760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468880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오전 첨두 1시간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07:25 ~ 08:25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468880"/>
            <a:ext cx="1645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chemeClr val="tx2"/>
                </a:solidFill>
              </a:rPr>
              <a:t>5,804</a:t>
            </a:r>
            <a:r>
              <a:rPr lang="en-US" sz="1400" dirty="0">
                <a:solidFill>
                  <a:schemeClr val="tx2"/>
                </a:solidFill>
              </a:rPr>
              <a:t> 대</a:t>
            </a:r>
            <a:endParaRPr lang="en-US" sz="3400" dirty="0"/>
          </a:p>
        </p:txBody>
      </p:sp>
      <p:sp>
        <p:nvSpPr>
          <p:cNvPr id="14" name="card-37"/>
          <p:cNvSpPr/>
          <p:nvPr/>
        </p:nvSpPr>
        <p:spPr>
          <a:xfrm>
            <a:off x="548640" y="3685032"/>
            <a:ext cx="365760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867912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오후 첨두 1시간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17:20 ~ 18:20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867912"/>
            <a:ext cx="1645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chemeClr val="bg1"/>
                </a:solidFill>
              </a:rPr>
              <a:t>6,169</a:t>
            </a:r>
            <a:r>
              <a:rPr lang="en-US" sz="1400" dirty="0">
                <a:solidFill>
                  <a:schemeClr val="bg1"/>
                </a:solidFill>
              </a:rPr>
              <a:t> 대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전체 진입 교통량 기준</a:t>
            </a:r>
            <a:endParaRPr lang="en-US" sz="1100" dirty="0"/>
          </a:p>
        </p:txBody>
      </p:sp>
      <p:graphicFrame>
        <p:nvGraphicFramePr>
          <p:cNvPr id="18" name="dir-volume-chart"/>
          <p:cNvGraphicFramePr/>
          <p:nvPr/>
        </p:nvGraphicFramePr>
        <p:xfrm>
          <a:off x="4526280" y="2240280"/>
          <a:ext cx="7114032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card-38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4406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해석  </a:t>
            </a:r>
            <a:r>
              <a:rPr lang="en-US" sz="1300" dirty="0">
                <a:solidFill>
                  <a:schemeClr val="tx1"/>
                </a:solidFill>
              </a:rPr>
              <a:t>해당 날짜는 오후 첨두 교통량이 더 많고, 서쪽 접근로 진입 교통량이 가장 많음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※ 한 날짜의 예비 결과로, 일반적인 첨두시간으로 확정하지 않음</a:t>
            </a:r>
            <a:endParaRPr lang="en-US" sz="1300" dirty="0"/>
          </a:p>
        </p:txBody>
      </p:sp>
      <p:sp>
        <p:nvSpPr>
          <p:cNvPr id="21" name="source-39"/>
          <p:cNvSpPr txBox="1"/>
          <p:nvPr/>
        </p:nvSpPr>
        <p:spPr>
          <a:xfrm>
            <a:off x="548640" y="608076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출처: 서울시 T-DATA, VW_SC_TRF_VOL_5M_20260929.csv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tx2"/>
                </a:solidFill>
              </a:rPr>
              <a:t>현장조사 및 향후 분석 계획</a:t>
            </a:r>
            <a:endParaRPr lang="en-US" sz="3000"/>
          </a:p>
        </p:txBody>
      </p:sp>
      <p:sp>
        <p:nvSpPr>
          <p:cNvPr id="3" name="card-40"/>
          <p:cNvSpPr/>
          <p:nvPr/>
        </p:nvSpPr>
        <p:spPr>
          <a:xfrm>
            <a:off x="548640" y="1234440"/>
            <a:ext cx="466344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head-41"/>
          <p:cNvSpPr txBox="1"/>
          <p:nvPr/>
        </p:nvSpPr>
        <p:spPr>
          <a:xfrm>
            <a:off x="77724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2"/>
                </a:solidFill>
              </a:rPr>
              <a:t>교차로 현장조사</a:t>
            </a:r>
            <a:endParaRPr lang="en-US" sz="160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일정 </a:t>
            </a:r>
            <a:r>
              <a:rPr lang="en-US" altLang="ko-KR" sz="1400">
                <a:solidFill>
                  <a:schemeClr val="tx1"/>
                </a:solidFill>
              </a:rPr>
              <a:t>10</a:t>
            </a:r>
            <a:r>
              <a:rPr lang="ko-KR" altLang="en-US" sz="1400">
                <a:solidFill>
                  <a:schemeClr val="tx1"/>
                </a:solidFill>
              </a:rPr>
              <a:t>월 말 조사 예정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251960" cy="2926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차로 수·회전 구성·버스전용차로·유턴 표지 확인</a:t>
            </a:r>
            <a:endParaRPr lang="en-US" sz="1400">
              <a:solidFill>
                <a:schemeClr val="tx1"/>
              </a:solidFill>
            </a:endParaRPr>
          </a:p>
          <a:p>
            <a:pPr marL="177800" indent="-177800">
              <a:spcAft>
                <a:spcPts val="9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신호주기·현시 순서·현시별 녹색 및 황색시간 기록</a:t>
            </a:r>
            <a:endParaRPr lang="en-US" sz="1400">
              <a:solidFill>
                <a:schemeClr val="tx1"/>
              </a:solidFill>
            </a:endParaRPr>
          </a:p>
          <a:p>
            <a:pPr marL="177800" indent="-177800">
              <a:spcAft>
                <a:spcPts val="9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신호 3~5주기 반복 관측 → 변동 여부 확인</a:t>
            </a:r>
            <a:endParaRPr lang="en-US" sz="1400">
              <a:solidFill>
                <a:schemeClr val="tx1"/>
              </a:solidFill>
            </a:endParaRPr>
          </a:p>
          <a:p>
            <a:pPr marL="177800" indent="-177800">
              <a:spcAft>
                <a:spcPts val="9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조사 날짜·시간과 사진 기록</a:t>
            </a:r>
            <a:endParaRPr lang="en-US" sz="1400">
              <a:solidFill>
                <a:schemeClr val="tx1"/>
              </a:solidFill>
            </a:endParaRPr>
          </a:p>
          <a:p>
            <a:pPr marL="177800" indent="-177800">
              <a:spcAft>
                <a:spcPts val="9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보도 등 안전한 관측 위치에서 조사</a:t>
            </a:r>
            <a:endParaRPr lang="en-US" sz="1400"/>
          </a:p>
        </p:txBody>
      </p:sp>
      <p:sp>
        <p:nvSpPr>
          <p:cNvPr id="8" name="card-43"/>
          <p:cNvSpPr/>
          <p:nvPr/>
        </p:nvSpPr>
        <p:spPr>
          <a:xfrm>
            <a:off x="5486400" y="1234440"/>
            <a:ext cx="297180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head-44"/>
          <p:cNvSpPr txBox="1"/>
          <p:nvPr/>
        </p:nvSpPr>
        <p:spPr>
          <a:xfrm>
            <a:off x="5715000" y="1371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2"/>
                </a:solidFill>
              </a:rPr>
              <a:t>고속도로 추가 조사</a:t>
            </a:r>
            <a:endParaRPr lang="en-US" sz="1600"/>
          </a:p>
        </p:txBody>
      </p:sp>
      <p:sp>
        <p:nvSpPr>
          <p:cNvPr id="10" name="Text 8"/>
          <p:cNvSpPr txBox="1"/>
          <p:nvPr/>
        </p:nvSpPr>
        <p:spPr>
          <a:xfrm>
            <a:off x="5715000" y="18288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공개자료와 기관 문의 중심으로 보완</a:t>
            </a:r>
            <a:endParaRPr lang="en-US" sz="1400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 b="1">
                <a:solidFill>
                  <a:schemeClr val="tx2"/>
                </a:solidFill>
              </a:rPr>
              <a:t>도로 조건 · 중차량 구성비 · VDS 설치정보</a:t>
            </a:r>
            <a:endParaRPr lang="en-US" sz="1400"/>
          </a:p>
        </p:txBody>
      </p:sp>
      <p:sp>
        <p:nvSpPr>
          <p:cNvPr id="11" name="image-slot-45"/>
          <p:cNvSpPr/>
          <p:nvPr/>
        </p:nvSpPr>
        <p:spPr>
          <a:xfrm>
            <a:off x="5486400" y="3291840"/>
            <a:ext cx="2971800" cy="205740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image-slot-label-46"/>
          <p:cNvSpPr txBox="1"/>
          <p:nvPr/>
        </p:nvSpPr>
        <p:spPr>
          <a:xfrm>
            <a:off x="5669280" y="3474720"/>
            <a:ext cx="2606040" cy="1691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현장사진 삽입 위치</a:t>
            </a:r>
            <a:endParaRPr lang="en-US" sz="1600" b="1">
              <a:solidFill>
                <a:schemeClr val="accent1"/>
              </a:solidFill>
            </a:endParaRPr>
          </a:p>
          <a:p>
            <a:pPr marL="0" indent="0" algn="ctr">
              <a:buNone/>
              <a:defRPr/>
            </a:pPr>
            <a:r>
              <a:rPr lang="en-US" sz="800">
                <a:solidFill>
                  <a:srgbClr val="000000"/>
                </a:solidFill>
              </a:rPr>
              <a:t> </a:t>
            </a:r>
            <a:endParaRPr lang="en-US" sz="800">
              <a:solidFill>
                <a:srgbClr val="000000"/>
              </a:solidFill>
            </a:endParaRPr>
          </a:p>
          <a:p>
            <a:pPr marL="0" indent="0" algn="ctr"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현장조사 후 추가</a:t>
            </a:r>
            <a:endParaRPr lang="en-US" sz="1600"/>
          </a:p>
        </p:txBody>
      </p:sp>
      <p:sp>
        <p:nvSpPr>
          <p:cNvPr id="13" name="head-47"/>
          <p:cNvSpPr txBox="1"/>
          <p:nvPr/>
        </p:nvSpPr>
        <p:spPr>
          <a:xfrm>
            <a:off x="8732520" y="123444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2"/>
                </a:solidFill>
              </a:rPr>
              <a:t>향후 분석</a:t>
            </a:r>
            <a:endParaRPr lang="en-US" sz="1600"/>
          </a:p>
        </p:txBody>
      </p:sp>
      <p:sp>
        <p:nvSpPr>
          <p:cNvPr id="14" name="step-num-48"/>
          <p:cNvSpPr txBox="1"/>
          <p:nvPr/>
        </p:nvSpPr>
        <p:spPr>
          <a:xfrm>
            <a:off x="8732520" y="1801368"/>
            <a:ext cx="411480" cy="41148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1</a:t>
            </a:r>
            <a:endParaRPr lang="en-US" sz="1400"/>
          </a:p>
        </p:txBody>
      </p:sp>
      <p:sp>
        <p:nvSpPr>
          <p:cNvPr id="15" name="Text 13"/>
          <p:cNvSpPr txBox="1"/>
          <p:nvPr/>
        </p:nvSpPr>
        <p:spPr>
          <a:xfrm>
            <a:off x="9281160" y="16916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현장조사 결과와 기존 자료 대조</a:t>
            </a:r>
            <a:endParaRPr lang="en-US" sz="1400"/>
          </a:p>
        </p:txBody>
      </p:sp>
      <p:sp>
        <p:nvSpPr>
          <p:cNvPr id="16" name="step-num-49"/>
          <p:cNvSpPr txBox="1"/>
          <p:nvPr/>
        </p:nvSpPr>
        <p:spPr>
          <a:xfrm>
            <a:off x="8732520" y="2715768"/>
            <a:ext cx="411480" cy="41148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2</a:t>
            </a:r>
            <a:endParaRPr lang="en-US" sz="1400"/>
          </a:p>
        </p:txBody>
      </p:sp>
      <p:sp>
        <p:nvSpPr>
          <p:cNvPr id="17" name="Text 15"/>
          <p:cNvSpPr txBox="1"/>
          <p:nvPr/>
        </p:nvSpPr>
        <p:spPr>
          <a:xfrm>
            <a:off x="9281160" y="26060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최종 분석용 교통량과 신호 운영의 시간대 일치</a:t>
            </a:r>
            <a:endParaRPr lang="en-US" sz="1400"/>
          </a:p>
        </p:txBody>
      </p:sp>
      <p:sp>
        <p:nvSpPr>
          <p:cNvPr id="18" name="step-num-50"/>
          <p:cNvSpPr txBox="1"/>
          <p:nvPr/>
        </p:nvSpPr>
        <p:spPr>
          <a:xfrm>
            <a:off x="8732520" y="3630168"/>
            <a:ext cx="411480" cy="41148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3</a:t>
            </a:r>
            <a:endParaRPr lang="en-US" sz="1400"/>
          </a:p>
        </p:txBody>
      </p:sp>
      <p:sp>
        <p:nvSpPr>
          <p:cNvPr id="19" name="Text 17"/>
          <p:cNvSpPr txBox="1"/>
          <p:nvPr/>
        </p:nvSpPr>
        <p:spPr>
          <a:xfrm>
            <a:off x="9281160" y="3520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용량·서비스수준 산정에 필요한 추가 항목 확인</a:t>
            </a:r>
            <a:endParaRPr lang="en-US" sz="1400"/>
          </a:p>
        </p:txBody>
      </p:sp>
      <p:sp>
        <p:nvSpPr>
          <p:cNvPr id="20" name="step-num-51"/>
          <p:cNvSpPr txBox="1"/>
          <p:nvPr/>
        </p:nvSpPr>
        <p:spPr>
          <a:xfrm>
            <a:off x="8732520" y="4544568"/>
            <a:ext cx="411480" cy="41148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4</a:t>
            </a:r>
            <a:endParaRPr lang="en-US" sz="1400"/>
          </a:p>
        </p:txBody>
      </p:sp>
      <p:sp>
        <p:nvSpPr>
          <p:cNvPr id="21" name="Text 19"/>
          <p:cNvSpPr txBox="1"/>
          <p:nvPr/>
        </p:nvSpPr>
        <p:spPr>
          <a:xfrm>
            <a:off x="9281160" y="44348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tx1"/>
                </a:solidFill>
              </a:rPr>
              <a:t>입력자료 확보 후 용량·서비스수준 분석</a:t>
            </a:r>
            <a:endParaRPr lang="en-US" sz="1400"/>
          </a:p>
        </p:txBody>
      </p:sp>
      <p:sp>
        <p:nvSpPr>
          <p:cNvPr id="22" name="notes-52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※ 주말에 관측한 신호시간을 평일 첨두 교통량에 그대로 적용하지 않음</a:t>
            </a:r>
            <a:endParaRPr lang="en-US" sz="1200">
              <a:solidFill>
                <a:schemeClr val="accent5"/>
              </a:solidFill>
            </a:endParaRPr>
          </a:p>
          <a:p>
            <a:pPr marL="0" indent="0">
              <a:spcAft>
                <a:spcPts val="200"/>
              </a:spcAft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※ 최종 분석에 필요한 차종 구성·보행량 등은 추가 확보 계획에 포함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pPr algn="r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UOS Traffic Capacity">
  <a:themeElements>
    <a:clrScheme name="UOS Traffic Capacity">
      <a:dk1>
        <a:srgbClr val="1a1f36"/>
      </a:dk1>
      <a:lt1>
        <a:srgbClr val="ffffff"/>
      </a:lt1>
      <a:dk2>
        <a:srgbClr val="1f2a5c"/>
      </a:dk2>
      <a:lt2>
        <a:srgbClr val="eef3fa"/>
      </a:lt2>
      <a:accent1>
        <a:srgbClr val="2e6fd8"/>
      </a:accent1>
      <a:accent2>
        <a:srgbClr val="1f2a5c"/>
      </a:accent2>
      <a:accent3>
        <a:srgbClr val="8fb3ea"/>
      </a:accent3>
      <a:accent4>
        <a:srgbClr val="c26a00"/>
      </a:accent4>
      <a:accent5>
        <a:srgbClr val="6b7280"/>
      </a:accent5>
      <a:accent6>
        <a:srgbClr val="d6e2f5"/>
      </a:accent6>
      <a:hlink>
        <a:srgbClr val="2e6fd8"/>
      </a:hlink>
      <a:folHlink>
        <a:srgbClr val="5b5f97"/>
      </a:folHlink>
    </a:clrScheme>
    <a:fontScheme name="UOS Traffic Capacity">
      <a:majorFont>
        <a:latin typeface="Malgun Gothic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서울시립대학교</ep:Company>
  <ep:Words>567</ep:Words>
  <ep:PresentationFormat>와이드스크린</ep:PresentationFormat>
  <ep:Paragraphs>112</ep:Paragraphs>
  <ep:Slides>6</ep:Slides>
  <ep:Notes>6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ep:HeadingPairs>
  <ep:TitlesOfParts>
    <vt:vector size="7" baseType="lpstr">
      <vt:lpstr>UOS Traffic Capacity</vt:lpstr>
      <vt:lpstr>고속도로 기본구간 및 신호교차로 분석 대상 선정과 조사 계획</vt:lpstr>
      <vt:lpstr>고속도로 기본구간 선정</vt:lpstr>
      <vt:lpstr>고속도로 입력자료 확보 현황</vt:lpstr>
      <vt:lpstr>태릉입구역 교차로 선정 및 차로 구성</vt:lpstr>
      <vt:lpstr>교차로 교통량 예비 분석</vt:lpstr>
      <vt:lpstr>현장조사 및 향후 분석 계획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2026-10-12T11:08:05.000</dcterms:created>
  <dc:creator>PptxGenJS</dc:creator>
  <cp:lastModifiedBy>hyung</cp:lastModifiedBy>
  <dcterms:modified xsi:type="dcterms:W3CDTF">2026-10-13T02:16:30.363</dcterms:modified>
  <cp:revision>10</cp:revision>
  <dc:subject>교통 용량 분석 과제 중간발표</dc:subject>
  <dc:title>고속도로 기본구간 및 신호교차로 분석 대상 선정과 조사 계획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