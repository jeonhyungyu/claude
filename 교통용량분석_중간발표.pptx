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개요" id="{bed9d4c9-2abe-9e8e-f8f4-90bf5bfd6fc2}">
          <p14:sldIdLst>
            <p14:sldId id="256"/>
          </p14:sldIdLst>
        </p14:section>
        <p14:section name="고속도로 기본구간" id="{054f55d0-b62b-952a-3cc0-d3727fa3cc29}">
          <p14:sldIdLst>
            <p14:sldId id="257"/>
            <p14:sldId id="258"/>
          </p14:sldIdLst>
        </p14:section>
        <p14:section name="신호교차로" id="{2a46f457-edb7-1940-2e05-30c306889d5b}">
          <p14:sldIdLst>
            <p14:sldId id="259"/>
            <p14:sldId id="260"/>
          </p14:sldIdLst>
        </p14:section>
        <p14:section name="향후 계획" id="{df711e8a-c274-2992-6485-e0c530ab990a}">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A5C"/>
                </a:solidFill>
                <a:latin typeface="+mn-lt"/>
              </a:defRPr>
            </a:pPr>
            <a:r>
              <a:rPr sz="1300" b="0" i="0" u="none" strike="noStrike">
                <a:solidFill>
                  <a:srgbClr val="1F2A5C"/>
                </a:solidFill>
                <a:latin typeface="+mn-lt"/>
              </a:rPr>
              <a:t>오후 첨두 1시간 접근로별 진입 교통량 (대)</a:t>
            </a:r>
          </a:p>
        </c:rich>
      </c:tx>
      <c:layout/>
      <c:overlay val="0"/>
    </c:title>
    <c:autoTitleDeleted val="0"/>
    <c:plotArea>
      <c:layout/>
      <c:barChart>
        <c:barDir val="col"/>
        <c:grouping val="clustered"/>
        <c:varyColors val="0"/>
        <c:ser>
          <c:idx val="0"/>
          <c:order val="0"/>
          <c:tx>
            <c:strRef>
              <c:f>Sheet1!$B$1</c:f>
              <c:strCache>
                <c:ptCount val="1"/>
                <c:pt idx="0">
                  <c:v>진입 교통량</c:v>
                </c:pt>
              </c:strCache>
            </c:strRef>
          </c:tx>
          <c:spPr>
            <a:solidFill>
              <a:srgbClr val="1F2A5C"/>
            </a:solidFill>
            <a:effectLst/>
          </c:spPr>
          <c:invertIfNegative val="0"/>
          <c:dLbls>
            <c:numFmt formatCode="#,##0" sourceLinked="0"/>
            <c:txPr>
              <a:bodyPr/>
              <a:lstStyle/>
              <a:p>
                <a:pPr>
                  <a:defRPr b="0" i="0" strike="noStrike" sz="1200" u="none">
                    <a:solidFill>
                      <a:srgbClr val="1A1F36"/>
                    </a:solidFill>
                    <a:latin typeface="+mn-lt"/>
                  </a:defRPr>
                </a:pPr>
              </a:p>
            </c:txPr>
            <c:showLegendKey val="0"/>
            <c:showVal val="1"/>
            <c:showCatName val="0"/>
            <c:showSerName val="0"/>
            <c:showPercent val="0"/>
            <c:showBubbleSize val="0"/>
            <c:showLeaderLines val="0"/>
          </c:dLbls>
          <c:dPt>
            <c:idx val="0"/>
            <c:invertIfNegative val="0"/>
            <c:bubble3D val="0"/>
            <c:spPr>
              <a:solidFill>
                <a:srgbClr val="1F2A5C"/>
              </a:solidFill>
              <a:effectLst/>
            </c:spPr>
          </c:dPt>
          <c:dPt>
            <c:idx val="1"/>
            <c:invertIfNegative val="0"/>
            <c:bubble3D val="0"/>
            <c:spPr>
              <a:solidFill>
                <a:srgbClr val="8FB3EA"/>
              </a:solidFill>
              <a:effectLst/>
            </c:spPr>
          </c:dPt>
          <c:dPt>
            <c:idx val="2"/>
            <c:invertIfNegative val="0"/>
            <c:bubble3D val="0"/>
            <c:spPr>
              <a:solidFill>
                <a:srgbClr val="8FB3EA"/>
              </a:solidFill>
              <a:effectLst/>
            </c:spPr>
          </c:dPt>
          <c:dPt>
            <c:idx val="3"/>
            <c:invertIfNegative val="0"/>
            <c:bubble3D val="0"/>
            <c:spPr>
              <a:solidFill>
                <a:srgbClr val="8FB3EA"/>
              </a:solidFill>
              <a:effectLst/>
            </c:spPr>
          </c:dPt>
          <c:cat>
            <c:multiLvlStrRef>
              <c:f>Sheet1!$A$2:$A$5</c:f>
              <c:multiLvlStrCache>
                <c:ptCount val="4"/>
                <c:lvl>
                  <c:pt idx="0">
                    <c:v>서측 (서쪽에서 진입)</c:v>
                  </c:pt>
                  <c:pt idx="1">
                    <c:v>동측 (동쪽에서 진입)</c:v>
                  </c:pt>
                  <c:pt idx="2">
                    <c:v>남측 (남쪽에서 진입)</c:v>
                  </c:pt>
                  <c:pt idx="3">
                    <c:v>북측 (북쪽에서 진입)</c:v>
                  </c:pt>
                </c:lvl>
              </c:multiLvlStrCache>
            </c:multiLvlStrRef>
          </c:cat>
          <c:val>
            <c:numRef>
              <c:f>Sheet1!$B$2:$B$5</c:f>
              <c:numCache>
                <c:formatCode>General</c:formatCode>
                <c:ptCount val="4"/>
                <c:pt idx="0">
                  <c:v>1992</c:v>
                </c:pt>
                <c:pt idx="1">
                  <c:v>1755</c:v>
                </c:pt>
                <c:pt idx="2">
                  <c:v>1295</c:v>
                </c:pt>
                <c:pt idx="3">
                  <c:v>1127</c:v>
                </c:pt>
              </c:numCache>
            </c:numRef>
          </c:val>
        </c:ser>
        <c:dLbls>
          <c:numFmt formatCode="#,##0" sourceLinked="0"/>
          <c:txPr>
            <a:bodyPr/>
            <a:lstStyle/>
            <a:p>
              <a:pPr>
                <a:defRPr b="0" i="0" strike="noStrike" sz="1200" u="none">
                  <a:solidFill>
                    <a:srgbClr val="1A1F36"/>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FB3EA"/>
            </a:solidFill>
            <a:prstDash val="solid"/>
            <a:round/>
          </a:ln>
        </c:spPr>
        <c:txPr>
          <a:bodyPr/>
          <a:lstStyle/>
          <a:p>
            <a:pPr>
              <a:defRPr sz="11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24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고속도로 기본구간(수도권제1순환고속도로 성남TG→송파IC 방향)과 신호교차로(태릉입구역 교차로)를 대상으로 선정했습니다. 이번 중간발표에서는 대상 선정, 자료 확보 현황, 현장조사 계획을 다루며, 최종 용량·서비스수준 결과는 아직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성남TG→송파IC 방향 중 편도 4차로가 유지되는 구간을 선택했습니다. 지도의 출발 지점이 시작점, 도착 지점이 종료점입니다. 접속부 기준점에서 각 400m 떨어진 지점을 잠정 경계로 두었으나, 이것만으로 접속부 영향이 완전히 제거됐다고 보지는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대표 분석지점은 00700, 비교 지점은 00800입니다. 두 지점의 5일간 하루 교통량 차이는 약 1.9~3.7%입니다. 00800은 집계 차로 범위가 확인되지 않아 비교용으로만 쓰고 교통량을 합산하지 않습니다. 차로폭·측방여유폭·종단경사·중차량 구성비는 오른쪽 경로로 보완할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접근로는 교차로 기준 도로의 위치로 부르고, 괄호 안에 차량이 들어오는 방향을 적었습니다. 예를 들어 동측 접근로는 동쪽에서 진입해 서쪽으로 진행하는 차량입니다. 차로 구성은 지도·거리뷰로 잠정 확인했으며, 버스전용차로와 유턴 조건이 차로군 구성에 주는 영향은 현장에서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회전별 5분 교통량을 합산한 뒤, 검토 시간범위 안에서 연속 12개 구간의 합계가 가장 큰 1시간을 첨두시간으로 골랐습니다. 오후 17:20~18:20이 6,169대로 오전보다 많았고, 접근로별로는 서측이 1,992대로 가장 많았습니다. 네 접근로 합계는 6,169대로 전체 진입 교통량과 일치합니다. 한 날짜 결과이므로 일반적인 첨두시간으로 확정하지는 않으며, 서비스수준은 회전별 교통량과 신호시간을 연결해 차로군별로 분석할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현장조사는 10월 말로 예정되어 있습니다. 5장에서 확인한 오후 첨두와 시간대를 맞추기 위해 평일 오후 첨두를 포함해 관측하는 것이 원칙이고, 다른 시간대에 관측한 신호시간은 운영계획이 같은지 확인한 뒤에만 적용합니다. 신호는 3~5주기 예비 관측 후 변동이나 누락이 있으면 추가 관측합니다.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11064240" cy="13258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서울시립대학교  |  교통 용량 분석 과제 중간발표</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서울시립대학교  |  교통 용량 분석 과제 중간발표</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400" b="1" dirty="0">
                <a:solidFill>
                  <a:schemeClr val="accent1"/>
                </a:solidFill>
              </a:rPr>
              <a:t>서울시립대학교  ·  교통 용량 분석 과제 중간발표</a:t>
            </a:r>
            <a:endParaRPr lang="en-US" sz="1400" dirty="0"/>
          </a:p>
        </p:txBody>
      </p:sp>
      <p:sp>
        <p:nvSpPr>
          <p:cNvPr id="3" name="Text 0"/>
          <p:cNvSpPr/>
          <p:nvPr>
            <p:ph idx="100" type="title" hasCustomPrompt="1"/>
          </p:nvPr>
        </p:nvSpPr>
        <p:spPr>
          <a:xfrm>
            <a:off x="548640" y="868680"/>
            <a:ext cx="11064240" cy="1325880"/>
          </a:xfrm>
          <a:prstGeom prst="rect">
            <a:avLst/>
          </a:prstGeom>
          <a:noFill/>
          <a:ln/>
        </p:spPr>
        <p:txBody>
          <a:bodyPr wrap="square" lIns="0" tIns="0" rIns="0" bIns="0" rtlCol="0" anchor="t"/>
          <a:lstStyle/>
          <a:p>
            <a:pPr algn="l" indent="0" marL="0">
              <a:buNone/>
            </a:pPr>
            <a:r>
              <a:rPr lang="en-US" sz="3400" b="1" dirty="0">
                <a:solidFill>
                  <a:schemeClr val="tx2"/>
                </a:solidFill>
              </a:rPr>
              <a:t>고속도로 기본구간 및 신호교차로</a:t>
            </a:r>
            <a:endParaRPr lang="en-US" sz="3400" dirty="0"/>
          </a:p>
          <a:p>
            <a:pPr algn="l" indent="0" marL="0">
              <a:buNone/>
            </a:pPr>
            <a:r>
              <a:rPr lang="en-US" sz="3400" b="1" dirty="0">
                <a:solidFill>
                  <a:schemeClr val="tx2"/>
                </a:solidFill>
              </a:rPr>
              <a:t>분석 대상 선정과 조사 계획</a:t>
            </a:r>
            <a:endParaRPr lang="en-US" sz="3400" dirty="0"/>
          </a:p>
        </p:txBody>
      </p:sp>
      <p:sp>
        <p:nvSpPr>
          <p:cNvPr id="4" name="card-1"/>
          <p:cNvSpPr/>
          <p:nvPr/>
        </p:nvSpPr>
        <p:spPr>
          <a:xfrm>
            <a:off x="548640" y="2468880"/>
            <a:ext cx="3291840" cy="1325880"/>
          </a:xfrm>
          <a:prstGeom prst="roundRect">
            <a:avLst>
              <a:gd name="adj" fmla="val 5517"/>
            </a:avLst>
          </a:prstGeom>
          <a:solidFill>
            <a:schemeClr val="bg2"/>
          </a:solidFill>
          <a:ln w="12700">
            <a:solidFill>
              <a:schemeClr val="bg2"/>
            </a:solidFill>
            <a:prstDash val="solid"/>
          </a:ln>
        </p:spPr>
      </p:sp>
      <p:sp>
        <p:nvSpPr>
          <p:cNvPr id="5" name="Text 3"/>
          <p:cNvSpPr txBox="1"/>
          <p:nvPr/>
        </p:nvSpPr>
        <p:spPr>
          <a:xfrm>
            <a:off x="822960" y="2606040"/>
            <a:ext cx="2834640" cy="1051560"/>
          </a:xfrm>
          <a:prstGeom prst="rect">
            <a:avLst/>
          </a:prstGeom>
          <a:noFill/>
          <a:ln/>
        </p:spPr>
        <p:txBody>
          <a:bodyPr wrap="square" lIns="0" tIns="0" rIns="0" bIns="0" rtlCol="0" anchor="ctr"/>
          <a:lstStyle/>
          <a:p>
            <a:pPr indent="0" marL="0">
              <a:spcAft>
                <a:spcPts val="400"/>
              </a:spcAft>
              <a:buNone/>
            </a:pPr>
            <a:r>
              <a:rPr lang="en-US" sz="1200" b="1" dirty="0">
                <a:solidFill>
                  <a:schemeClr val="accent1"/>
                </a:solidFill>
              </a:rPr>
              <a:t>고속도로 기본구간</a:t>
            </a:r>
            <a:endParaRPr lang="en-US" sz="1200" dirty="0"/>
          </a:p>
          <a:p>
            <a:pPr indent="0" marL="0">
              <a:spcAft>
                <a:spcPts val="400"/>
              </a:spcAft>
              <a:buNone/>
            </a:pPr>
            <a:r>
              <a:rPr lang="en-US" sz="1800" b="1" dirty="0">
                <a:solidFill>
                  <a:schemeClr val="tx2"/>
                </a:solidFill>
              </a:rPr>
              <a:t>수도권제1순환고속도로</a:t>
            </a:r>
            <a:endParaRPr lang="en-US" sz="1200" dirty="0"/>
          </a:p>
          <a:p>
            <a:pPr indent="0" marL="0">
              <a:spcAft>
                <a:spcPts val="400"/>
              </a:spcAft>
              <a:buNone/>
            </a:pPr>
            <a:r>
              <a:rPr lang="en-US" sz="1400" dirty="0">
                <a:solidFill>
                  <a:schemeClr val="tx1"/>
                </a:solidFill>
              </a:rPr>
              <a:t>성남TG → 송파IC 방향</a:t>
            </a:r>
            <a:endParaRPr lang="en-US" sz="1200" dirty="0"/>
          </a:p>
        </p:txBody>
      </p:sp>
      <p:sp>
        <p:nvSpPr>
          <p:cNvPr id="6" name="card-2"/>
          <p:cNvSpPr/>
          <p:nvPr/>
        </p:nvSpPr>
        <p:spPr>
          <a:xfrm>
            <a:off x="4114800" y="2468880"/>
            <a:ext cx="3291840" cy="1325880"/>
          </a:xfrm>
          <a:prstGeom prst="roundRect">
            <a:avLst>
              <a:gd name="adj" fmla="val 5517"/>
            </a:avLst>
          </a:prstGeom>
          <a:solidFill>
            <a:schemeClr val="bg2"/>
          </a:solidFill>
          <a:ln w="12700">
            <a:solidFill>
              <a:schemeClr val="bg2"/>
            </a:solidFill>
            <a:prstDash val="solid"/>
          </a:ln>
        </p:spPr>
      </p:sp>
      <p:sp>
        <p:nvSpPr>
          <p:cNvPr id="7" name="Text 5"/>
          <p:cNvSpPr txBox="1"/>
          <p:nvPr/>
        </p:nvSpPr>
        <p:spPr>
          <a:xfrm>
            <a:off x="4389120" y="2606040"/>
            <a:ext cx="2834640" cy="1051560"/>
          </a:xfrm>
          <a:prstGeom prst="rect">
            <a:avLst/>
          </a:prstGeom>
          <a:noFill/>
          <a:ln/>
        </p:spPr>
        <p:txBody>
          <a:bodyPr wrap="square" lIns="0" tIns="0" rIns="0" bIns="0" rtlCol="0" anchor="ctr"/>
          <a:lstStyle/>
          <a:p>
            <a:pPr indent="0" marL="0">
              <a:spcAft>
                <a:spcPts val="400"/>
              </a:spcAft>
              <a:buNone/>
            </a:pPr>
            <a:r>
              <a:rPr lang="en-US" sz="1200" b="1" dirty="0">
                <a:solidFill>
                  <a:schemeClr val="accent1"/>
                </a:solidFill>
              </a:rPr>
              <a:t>신호교차로</a:t>
            </a:r>
            <a:endParaRPr lang="en-US" sz="1200" dirty="0"/>
          </a:p>
          <a:p>
            <a:pPr indent="0" marL="0">
              <a:spcAft>
                <a:spcPts val="400"/>
              </a:spcAft>
              <a:buNone/>
            </a:pPr>
            <a:r>
              <a:rPr lang="en-US" sz="1800" b="1" dirty="0">
                <a:solidFill>
                  <a:schemeClr val="tx2"/>
                </a:solidFill>
              </a:rPr>
              <a:t>태릉입구역 교차로</a:t>
            </a:r>
            <a:endParaRPr lang="en-US" sz="1200" dirty="0"/>
          </a:p>
          <a:p>
            <a:pPr indent="0" marL="0">
              <a:spcAft>
                <a:spcPts val="400"/>
              </a:spcAft>
              <a:buNone/>
            </a:pPr>
            <a:r>
              <a:rPr lang="en-US" sz="1400" dirty="0">
                <a:solidFill>
                  <a:schemeClr val="tx1"/>
                </a:solidFill>
              </a:rPr>
              <a:t>화랑로 × 동일로 사거리</a:t>
            </a:r>
            <a:endParaRPr lang="en-US" sz="1200" dirty="0"/>
          </a:p>
        </p:txBody>
      </p:sp>
      <p:sp>
        <p:nvSpPr>
          <p:cNvPr id="8" name="head-3"/>
          <p:cNvSpPr txBox="1"/>
          <p:nvPr/>
        </p:nvSpPr>
        <p:spPr>
          <a:xfrm>
            <a:off x="548640" y="4069080"/>
            <a:ext cx="3657600" cy="365760"/>
          </a:xfrm>
          <a:prstGeom prst="rect">
            <a:avLst/>
          </a:prstGeom>
          <a:noFill/>
          <a:ln/>
        </p:spPr>
        <p:txBody>
          <a:bodyPr wrap="square" lIns="0" tIns="0" rIns="0" bIns="0" rtlCol="0" anchor="ctr"/>
          <a:lstStyle/>
          <a:p>
            <a:pPr indent="0" marL="0">
              <a:buNone/>
            </a:pPr>
            <a:r>
              <a:rPr lang="en-US" sz="1600" b="1" dirty="0">
                <a:solidFill>
                  <a:schemeClr val="tx2"/>
                </a:solidFill>
              </a:rPr>
              <a:t>진행 순서</a:t>
            </a:r>
            <a:endParaRPr lang="en-US" sz="1600" dirty="0"/>
          </a:p>
        </p:txBody>
      </p:sp>
      <p:sp>
        <p:nvSpPr>
          <p:cNvPr id="9" name="step-4"/>
          <p:cNvSpPr txBox="1"/>
          <p:nvPr/>
        </p:nvSpPr>
        <p:spPr>
          <a:xfrm>
            <a:off x="548640" y="4526280"/>
            <a:ext cx="1481328" cy="868680"/>
          </a:xfrm>
          <a:prstGeom prst="roundRect">
            <a:avLst>
              <a:gd name="adj" fmla="val 8421"/>
            </a:avLst>
          </a:prstGeom>
          <a:solidFill>
            <a:schemeClr val="tx2"/>
          </a:solidFill>
          <a:ln w="19050">
            <a:solidFill>
              <a:schemeClr val="tx2"/>
            </a:solidFill>
          </a:ln>
        </p:spPr>
        <p:txBody>
          <a:bodyPr wrap="square" lIns="25400" tIns="25400" rIns="25400" bIns="25400" rtlCol="0" anchor="ctr"/>
          <a:lstStyle/>
          <a:p>
            <a:pPr algn="ctr" indent="0" marL="0">
              <a:buNone/>
            </a:pPr>
            <a:r>
              <a:rPr lang="en-US" sz="1400" b="1" dirty="0">
                <a:solidFill>
                  <a:schemeClr val="bg1"/>
                </a:solidFill>
              </a:rPr>
              <a:t>1  </a:t>
            </a:r>
            <a:pPr algn="ctr" indent="0" marL="0">
              <a:buNone/>
            </a:pPr>
            <a:r>
              <a:rPr lang="en-US" sz="1400" b="1" dirty="0">
                <a:solidFill>
                  <a:schemeClr val="bg1"/>
                </a:solidFill>
              </a:rPr>
              <a:t>대상 선정</a:t>
            </a:r>
            <a:endParaRPr lang="en-US" sz="1400" dirty="0"/>
          </a:p>
        </p:txBody>
      </p:sp>
      <p:sp>
        <p:nvSpPr>
          <p:cNvPr id="10" name="arrow-5"/>
          <p:cNvSpPr/>
          <p:nvPr/>
        </p:nvSpPr>
        <p:spPr>
          <a:xfrm rot="5400000">
            <a:off x="2093976" y="4869180"/>
            <a:ext cx="182880" cy="182880"/>
          </a:xfrm>
          <a:prstGeom prst="triangle">
            <a:avLst/>
          </a:prstGeom>
          <a:solidFill>
            <a:schemeClr val="accent3"/>
          </a:solidFill>
          <a:ln w="12700">
            <a:solidFill>
              <a:schemeClr val="accent3"/>
            </a:solidFill>
            <a:prstDash val="solid"/>
          </a:ln>
        </p:spPr>
      </p:sp>
      <p:sp>
        <p:nvSpPr>
          <p:cNvPr id="11" name="step-6"/>
          <p:cNvSpPr txBox="1"/>
          <p:nvPr/>
        </p:nvSpPr>
        <p:spPr>
          <a:xfrm>
            <a:off x="2340864" y="4526280"/>
            <a:ext cx="1481328" cy="868680"/>
          </a:xfrm>
          <a:prstGeom prst="roundRect">
            <a:avLst>
              <a:gd name="adj" fmla="val 8421"/>
            </a:avLst>
          </a:prstGeom>
          <a:solidFill>
            <a:schemeClr val="tx2"/>
          </a:solidFill>
          <a:ln w="19050">
            <a:solidFill>
              <a:schemeClr val="tx2"/>
            </a:solidFill>
          </a:ln>
        </p:spPr>
        <p:txBody>
          <a:bodyPr wrap="square" lIns="25400" tIns="25400" rIns="25400" bIns="25400" rtlCol="0" anchor="ctr"/>
          <a:lstStyle/>
          <a:p>
            <a:pPr algn="ctr" indent="0" marL="0">
              <a:buNone/>
            </a:pPr>
            <a:r>
              <a:rPr lang="en-US" sz="1400" b="1" dirty="0">
                <a:solidFill>
                  <a:schemeClr val="bg1"/>
                </a:solidFill>
              </a:rPr>
              <a:t>2  </a:t>
            </a:r>
            <a:pPr algn="ctr" indent="0" marL="0">
              <a:buNone/>
            </a:pPr>
            <a:r>
              <a:rPr lang="en-US" sz="1400" b="1" dirty="0">
                <a:solidFill>
                  <a:schemeClr val="bg1"/>
                </a:solidFill>
              </a:rPr>
              <a:t>자료 확보·</a:t>
            </a:r>
            <a:endParaRPr lang="en-US" sz="1400" dirty="0"/>
          </a:p>
          <a:p>
            <a:pPr algn="ctr" indent="0" marL="0">
              <a:buNone/>
            </a:pPr>
            <a:r>
              <a:rPr lang="en-US" sz="1400" b="1" dirty="0">
                <a:solidFill>
                  <a:schemeClr val="bg1"/>
                </a:solidFill>
              </a:rPr>
              <a:t>예비 검토</a:t>
            </a:r>
            <a:endParaRPr lang="en-US" sz="1400" dirty="0"/>
          </a:p>
        </p:txBody>
      </p:sp>
      <p:sp>
        <p:nvSpPr>
          <p:cNvPr id="12" name="arrow-7"/>
          <p:cNvSpPr/>
          <p:nvPr/>
        </p:nvSpPr>
        <p:spPr>
          <a:xfrm rot="5400000">
            <a:off x="3886200" y="4869180"/>
            <a:ext cx="182880" cy="182880"/>
          </a:xfrm>
          <a:prstGeom prst="triangle">
            <a:avLst/>
          </a:prstGeom>
          <a:solidFill>
            <a:schemeClr val="accent3"/>
          </a:solidFill>
          <a:ln w="12700">
            <a:solidFill>
              <a:schemeClr val="accent3"/>
            </a:solidFill>
            <a:prstDash val="solid"/>
          </a:ln>
        </p:spPr>
      </p:sp>
      <p:sp>
        <p:nvSpPr>
          <p:cNvPr id="13" name="step-8"/>
          <p:cNvSpPr txBox="1"/>
          <p:nvPr/>
        </p:nvSpPr>
        <p:spPr>
          <a:xfrm>
            <a:off x="4133088" y="4526280"/>
            <a:ext cx="1481328" cy="868680"/>
          </a:xfrm>
          <a:prstGeom prst="roundRect">
            <a:avLst>
              <a:gd name="adj" fmla="val 8421"/>
            </a:avLst>
          </a:prstGeom>
          <a:solidFill>
            <a:schemeClr val="bg1"/>
          </a:solidFill>
          <a:ln w="19050">
            <a:solidFill>
              <a:schemeClr val="accent3"/>
            </a:solidFill>
          </a:ln>
        </p:spPr>
        <p:txBody>
          <a:bodyPr wrap="square" lIns="25400" tIns="25400" rIns="25400" bIns="25400" rtlCol="0" anchor="ctr"/>
          <a:lstStyle/>
          <a:p>
            <a:pPr algn="ctr" indent="0" marL="0">
              <a:buNone/>
            </a:pPr>
            <a:r>
              <a:rPr lang="en-US" sz="1400" b="1" dirty="0">
                <a:solidFill>
                  <a:schemeClr val="tx2"/>
                </a:solidFill>
              </a:rPr>
              <a:t>3  </a:t>
            </a:r>
            <a:pPr algn="ctr" indent="0" marL="0">
              <a:buNone/>
            </a:pPr>
            <a:r>
              <a:rPr lang="en-US" sz="1400" b="1" dirty="0">
                <a:solidFill>
                  <a:schemeClr val="tx2"/>
                </a:solidFill>
              </a:rPr>
              <a:t>현장조사</a:t>
            </a:r>
            <a:endParaRPr lang="en-US" sz="1400" dirty="0"/>
          </a:p>
        </p:txBody>
      </p:sp>
      <p:sp>
        <p:nvSpPr>
          <p:cNvPr id="14" name="arrow-9"/>
          <p:cNvSpPr/>
          <p:nvPr/>
        </p:nvSpPr>
        <p:spPr>
          <a:xfrm rot="5400000">
            <a:off x="5678424" y="4869180"/>
            <a:ext cx="182880" cy="182880"/>
          </a:xfrm>
          <a:prstGeom prst="triangle">
            <a:avLst/>
          </a:prstGeom>
          <a:solidFill>
            <a:schemeClr val="accent3"/>
          </a:solidFill>
          <a:ln w="12700">
            <a:solidFill>
              <a:schemeClr val="accent3"/>
            </a:solidFill>
            <a:prstDash val="solid"/>
          </a:ln>
        </p:spPr>
      </p:sp>
      <p:sp>
        <p:nvSpPr>
          <p:cNvPr id="15" name="step-10"/>
          <p:cNvSpPr txBox="1"/>
          <p:nvPr/>
        </p:nvSpPr>
        <p:spPr>
          <a:xfrm>
            <a:off x="5925312" y="4526280"/>
            <a:ext cx="1481328" cy="868680"/>
          </a:xfrm>
          <a:prstGeom prst="roundRect">
            <a:avLst>
              <a:gd name="adj" fmla="val 8421"/>
            </a:avLst>
          </a:prstGeom>
          <a:solidFill>
            <a:schemeClr val="bg1"/>
          </a:solidFill>
          <a:ln w="19050">
            <a:solidFill>
              <a:schemeClr val="accent3"/>
            </a:solidFill>
          </a:ln>
        </p:spPr>
        <p:txBody>
          <a:bodyPr wrap="square" lIns="25400" tIns="25400" rIns="25400" bIns="25400" rtlCol="0" anchor="ctr"/>
          <a:lstStyle/>
          <a:p>
            <a:pPr algn="ctr" indent="0" marL="0">
              <a:buNone/>
            </a:pPr>
            <a:r>
              <a:rPr lang="en-US" sz="1400" b="1" dirty="0">
                <a:solidFill>
                  <a:schemeClr val="tx2"/>
                </a:solidFill>
              </a:rPr>
              <a:t>4  </a:t>
            </a:r>
            <a:pPr algn="ctr" indent="0" marL="0">
              <a:buNone/>
            </a:pPr>
            <a:r>
              <a:rPr lang="en-US" sz="1400" b="1" dirty="0">
                <a:solidFill>
                  <a:schemeClr val="tx2"/>
                </a:solidFill>
              </a:rPr>
              <a:t>용량·서비스</a:t>
            </a:r>
            <a:endParaRPr lang="en-US" sz="1400" dirty="0"/>
          </a:p>
          <a:p>
            <a:pPr algn="ctr" indent="0" marL="0">
              <a:buNone/>
            </a:pPr>
            <a:r>
              <a:rPr lang="en-US" sz="1400" b="1" dirty="0">
                <a:solidFill>
                  <a:schemeClr val="tx2"/>
                </a:solidFill>
              </a:rPr>
              <a:t>수준 분석</a:t>
            </a:r>
            <a:endParaRPr lang="en-US" sz="1400" dirty="0"/>
          </a:p>
        </p:txBody>
      </p:sp>
      <p:sp>
        <p:nvSpPr>
          <p:cNvPr id="16" name="Text 14"/>
          <p:cNvSpPr txBox="1"/>
          <p:nvPr/>
        </p:nvSpPr>
        <p:spPr>
          <a:xfrm>
            <a:off x="548640" y="5532120"/>
            <a:ext cx="6858000" cy="274320"/>
          </a:xfrm>
          <a:prstGeom prst="rect">
            <a:avLst/>
          </a:prstGeom>
          <a:noFill/>
          <a:ln/>
        </p:spPr>
        <p:txBody>
          <a:bodyPr wrap="square" lIns="0" tIns="0" rIns="0" bIns="0" rtlCol="0" anchor="ctr"/>
          <a:lstStyle/>
          <a:p>
            <a:pPr indent="0" marL="0">
              <a:buNone/>
            </a:pPr>
            <a:r>
              <a:rPr lang="en-US" sz="1200" dirty="0">
                <a:solidFill>
                  <a:schemeClr val="accent5"/>
                </a:solidFill>
              </a:rPr>
              <a:t>중간발표: 대상 선정·자료 확보 현황·현장조사 계획  /  이후 진행: ③~④</a:t>
            </a:r>
            <a:endParaRPr lang="en-US" sz="1200" dirty="0"/>
          </a:p>
        </p:txBody>
      </p:sp>
      <p:sp>
        <p:nvSpPr>
          <p:cNvPr id="17" name="head-11"/>
          <p:cNvSpPr txBox="1"/>
          <p:nvPr/>
        </p:nvSpPr>
        <p:spPr>
          <a:xfrm>
            <a:off x="7680960" y="2423160"/>
            <a:ext cx="3959352" cy="365760"/>
          </a:xfrm>
          <a:prstGeom prst="rect">
            <a:avLst/>
          </a:prstGeom>
          <a:noFill/>
          <a:ln/>
        </p:spPr>
        <p:txBody>
          <a:bodyPr wrap="square" lIns="0" tIns="0" rIns="0" bIns="0" rtlCol="0" anchor="ctr"/>
          <a:lstStyle/>
          <a:p>
            <a:pPr indent="0" marL="0">
              <a:buNone/>
            </a:pPr>
            <a:r>
              <a:rPr lang="en-US" sz="1600" b="1" dirty="0">
                <a:solidFill>
                  <a:schemeClr val="tx2"/>
                </a:solidFill>
              </a:rPr>
              <a:t>팀원 및 업무분담</a:t>
            </a:r>
            <a:endParaRPr lang="en-US" sz="1600" dirty="0"/>
          </a:p>
        </p:txBody>
      </p:sp>
      <p:graphicFrame>
        <p:nvGraphicFramePr>
          <p:cNvPr id="2" name="team-table"/>
          <p:cNvGraphicFramePr>
            <a:graphicFrameLocks noGrp="1"/>
          </p:cNvGraphicFramePr>
          <p:nvPr>
            <p:extLst>
              <p:ext uri="{D42A27DB-BD31-4B8C-83A1-F6EECF244321}">
                <p14:modId xmlns:p14="http://schemas.microsoft.com/office/powerpoint/2010/main" val="1579011935"/>
              </p:ext>
            </p:extLst>
          </p:nvPr>
        </p:nvGraphicFramePr>
        <p:xfrm>
          <a:off x="7680960" y="2880360"/>
          <a:ext cx="3959352" cy="914400"/>
        </p:xfrm>
        <a:graphic>
          <a:graphicData uri="http://schemas.openxmlformats.org/drawingml/2006/table">
            <a:tbl>
              <a:tblPr/>
              <a:tblGrid>
                <a:gridCol w="1005840"/>
                <a:gridCol w="2953512"/>
              </a:tblGrid>
              <a:tr h="438912">
                <a:tc>
                  <a:txBody>
                    <a:bodyPr/>
                    <a:lstStyle/>
                    <a:p>
                      <a:pPr algn="ctr" indent="0" marL="0">
                        <a:buNone/>
                      </a:pPr>
                      <a:r>
                        <a:rPr lang="en-US" sz="1200" b="1" dirty="0">
                          <a:solidFill>
                            <a:schemeClr val="bg1"/>
                          </a:solidFill>
                        </a:rPr>
                        <a:t>이름</a:t>
                      </a:r>
                      <a:endParaRPr lang="en-US" sz="1200" dirty="0"/>
                    </a:p>
                  </a:txBody>
                  <a:tcPr marL="109728" marR="73152" marT="27432" marB="27432" anchor="ctr">
                    <a:lnL w="9525" cap="flat" cmpd="sng" algn="ctr">
                      <a:solidFill>
                        <a:srgbClr val="8FB3EA"/>
                      </a:solidFill>
                      <a:prstDash val="solid"/>
                      <a:round/>
                      <a:headEnd type="none" w="med" len="med"/>
                      <a:tailEnd type="none" w="med" len="med"/>
                    </a:lnL>
                    <a:lnR w="9525" cap="flat" cmpd="sng" algn="ctr">
                      <a:solidFill>
                        <a:srgbClr val="8FB3EA"/>
                      </a:solidFill>
                      <a:prstDash val="solid"/>
                      <a:round/>
                      <a:headEnd type="none" w="med" len="med"/>
                      <a:tailEnd type="none" w="med" len="med"/>
                    </a:lnR>
                    <a:lnT w="9525" cap="flat" cmpd="sng" algn="ctr">
                      <a:solidFill>
                        <a:srgbClr val="8FB3EA"/>
                      </a:solidFill>
                      <a:prstDash val="solid"/>
                      <a:round/>
                      <a:headEnd type="none" w="med" len="med"/>
                      <a:tailEnd type="none" w="med" len="med"/>
                    </a:lnT>
                    <a:lnB w="9525" cap="flat" cmpd="sng" algn="ctr">
                      <a:solidFill>
                        <a:srgbClr val="8FB3EA"/>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담당 업무</a:t>
                      </a:r>
                      <a:endParaRPr lang="en-US" sz="1200" dirty="0"/>
                    </a:p>
                  </a:txBody>
                  <a:tcPr marL="109728" marR="73152" marT="27432" marB="27432" anchor="ctr">
                    <a:lnL w="9525" cap="flat" cmpd="sng" algn="ctr">
                      <a:solidFill>
                        <a:srgbClr val="8FB3EA"/>
                      </a:solidFill>
                      <a:prstDash val="solid"/>
                      <a:round/>
                      <a:headEnd type="none" w="med" len="med"/>
                      <a:tailEnd type="none" w="med" len="med"/>
                    </a:lnL>
                    <a:lnR w="9525" cap="flat" cmpd="sng" algn="ctr">
                      <a:solidFill>
                        <a:srgbClr val="8FB3EA"/>
                      </a:solidFill>
                      <a:prstDash val="solid"/>
                      <a:round/>
                      <a:headEnd type="none" w="med" len="med"/>
                      <a:tailEnd type="none" w="med" len="med"/>
                    </a:lnR>
                    <a:lnT w="9525" cap="flat" cmpd="sng" algn="ctr">
                      <a:solidFill>
                        <a:srgbClr val="8FB3EA"/>
                      </a:solidFill>
                      <a:prstDash val="solid"/>
                      <a:round/>
                      <a:headEnd type="none" w="med" len="med"/>
                      <a:tailEnd type="none" w="med" len="med"/>
                    </a:lnT>
                    <a:lnB w="9525" cap="flat" cmpd="sng" algn="ctr">
                      <a:solidFill>
                        <a:srgbClr val="8FB3EA"/>
                      </a:solidFill>
                      <a:prstDash val="solid"/>
                      <a:round/>
                      <a:headEnd type="none" w="med" len="med"/>
                      <a:tailEnd type="none" w="med" len="med"/>
                    </a:lnB>
                    <a:solidFill>
                      <a:schemeClr val="tx2"/>
                    </a:solidFill>
                  </a:tcPr>
                </a:tc>
              </a:tr>
              <a:tr h="658368">
                <a:tc>
                  <a:txBody>
                    <a:bodyPr/>
                    <a:lstStyle/>
                    <a:p>
                      <a:pPr algn="ctr" indent="0" marL="0">
                        <a:buNone/>
                      </a:pPr>
                      <a:r>
                        <a:rPr lang="en-US" sz="1200" dirty="0">
                          <a:solidFill>
                            <a:schemeClr val="tx1"/>
                          </a:solidFill>
                        </a:rPr>
                        <a:t>전현규</a:t>
                      </a:r>
                      <a:endParaRPr lang="en-US" sz="1200" dirty="0"/>
                    </a:p>
                  </a:txBody>
                  <a:tcPr marL="109728" marR="73152" marT="27432" marB="27432" anchor="ctr">
                    <a:lnL w="9525" cap="flat" cmpd="sng" algn="ctr">
                      <a:solidFill>
                        <a:srgbClr val="8FB3EA"/>
                      </a:solidFill>
                      <a:prstDash val="solid"/>
                      <a:round/>
                      <a:headEnd type="none" w="med" len="med"/>
                      <a:tailEnd type="none" w="med" len="med"/>
                    </a:lnL>
                    <a:lnR w="9525" cap="flat" cmpd="sng" algn="ctr">
                      <a:solidFill>
                        <a:srgbClr val="8FB3EA"/>
                      </a:solidFill>
                      <a:prstDash val="solid"/>
                      <a:round/>
                      <a:headEnd type="none" w="med" len="med"/>
                      <a:tailEnd type="none" w="med" len="med"/>
                    </a:lnR>
                    <a:lnT w="9525" cap="flat" cmpd="sng" algn="ctr">
                      <a:solidFill>
                        <a:srgbClr val="8FB3EA"/>
                      </a:solidFill>
                      <a:prstDash val="solid"/>
                      <a:round/>
                      <a:headEnd type="none" w="med" len="med"/>
                      <a:tailEnd type="none" w="med" len="med"/>
                    </a:lnT>
                    <a:lnB w="9525" cap="flat" cmpd="sng" algn="ctr">
                      <a:solidFill>
                        <a:srgbClr val="8FB3EA"/>
                      </a:solidFill>
                      <a:prstDash val="solid"/>
                      <a:round/>
                      <a:headEnd type="none" w="med" len="med"/>
                      <a:tailEnd type="none" w="med" len="med"/>
                    </a:lnB>
                  </a:tcPr>
                </a:tc>
                <a:tc>
                  <a:txBody>
                    <a:bodyPr/>
                    <a:lstStyle/>
                    <a:p>
                      <a:pPr indent="0" marL="0">
                        <a:buNone/>
                      </a:pPr>
                      <a:r>
                        <a:rPr lang="en-US" sz="1200" dirty="0">
                          <a:solidFill>
                            <a:schemeClr val="tx1"/>
                          </a:solidFill>
                        </a:rPr>
                        <a:t>발표, 고속도로 자료 정리, 현장 신호 조사</a:t>
                      </a:r>
                      <a:endParaRPr lang="en-US" sz="1200" dirty="0"/>
                    </a:p>
                  </a:txBody>
                  <a:tcPr marL="109728" marR="73152" marT="27432" marB="27432" anchor="ctr">
                    <a:lnL w="9525" cap="flat" cmpd="sng" algn="ctr">
                      <a:solidFill>
                        <a:srgbClr val="8FB3EA"/>
                      </a:solidFill>
                      <a:prstDash val="solid"/>
                      <a:round/>
                      <a:headEnd type="none" w="med" len="med"/>
                      <a:tailEnd type="none" w="med" len="med"/>
                    </a:lnL>
                    <a:lnR w="9525" cap="flat" cmpd="sng" algn="ctr">
                      <a:solidFill>
                        <a:srgbClr val="8FB3EA"/>
                      </a:solidFill>
                      <a:prstDash val="solid"/>
                      <a:round/>
                      <a:headEnd type="none" w="med" len="med"/>
                      <a:tailEnd type="none" w="med" len="med"/>
                    </a:lnR>
                    <a:lnT w="9525" cap="flat" cmpd="sng" algn="ctr">
                      <a:solidFill>
                        <a:srgbClr val="8FB3EA"/>
                      </a:solidFill>
                      <a:prstDash val="solid"/>
                      <a:round/>
                      <a:headEnd type="none" w="med" len="med"/>
                      <a:tailEnd type="none" w="med" len="med"/>
                    </a:lnT>
                    <a:lnB w="9525" cap="flat" cmpd="sng" algn="ctr">
                      <a:solidFill>
                        <a:srgbClr val="8FB3EA"/>
                      </a:solidFill>
                      <a:prstDash val="solid"/>
                      <a:round/>
                      <a:headEnd type="none" w="med" len="med"/>
                      <a:tailEnd type="none" w="med" len="med"/>
                    </a:lnB>
                  </a:tcPr>
                </a:tc>
              </a:tr>
              <a:tr h="658368">
                <a:tc>
                  <a:txBody>
                    <a:bodyPr/>
                    <a:lstStyle/>
                    <a:p>
                      <a:pPr algn="ctr" indent="0" marL="0">
                        <a:buNone/>
                      </a:pPr>
                      <a:r>
                        <a:rPr lang="en-US" sz="1200" dirty="0">
                          <a:solidFill>
                            <a:schemeClr val="tx1"/>
                          </a:solidFill>
                        </a:rPr>
                        <a:t>송동석</a:t>
                      </a:r>
                      <a:endParaRPr lang="en-US" sz="1200" dirty="0"/>
                    </a:p>
                  </a:txBody>
                  <a:tcPr marL="109728" marR="73152" marT="27432" marB="27432" anchor="ctr">
                    <a:lnL w="9525" cap="flat" cmpd="sng" algn="ctr">
                      <a:solidFill>
                        <a:srgbClr val="8FB3EA"/>
                      </a:solidFill>
                      <a:prstDash val="solid"/>
                      <a:round/>
                      <a:headEnd type="none" w="med" len="med"/>
                      <a:tailEnd type="none" w="med" len="med"/>
                    </a:lnL>
                    <a:lnR w="9525" cap="flat" cmpd="sng" algn="ctr">
                      <a:solidFill>
                        <a:srgbClr val="8FB3EA"/>
                      </a:solidFill>
                      <a:prstDash val="solid"/>
                      <a:round/>
                      <a:headEnd type="none" w="med" len="med"/>
                      <a:tailEnd type="none" w="med" len="med"/>
                    </a:lnR>
                    <a:lnT w="9525" cap="flat" cmpd="sng" algn="ctr">
                      <a:solidFill>
                        <a:srgbClr val="8FB3EA"/>
                      </a:solidFill>
                      <a:prstDash val="solid"/>
                      <a:round/>
                      <a:headEnd type="none" w="med" len="med"/>
                      <a:tailEnd type="none" w="med" len="med"/>
                    </a:lnT>
                    <a:lnB w="9525" cap="flat" cmpd="sng" algn="ctr">
                      <a:solidFill>
                        <a:srgbClr val="8FB3EA"/>
                      </a:solidFill>
                      <a:prstDash val="solid"/>
                      <a:round/>
                      <a:headEnd type="none" w="med" len="med"/>
                      <a:tailEnd type="none" w="med" len="med"/>
                    </a:lnB>
                  </a:tcPr>
                </a:tc>
                <a:tc>
                  <a:txBody>
                    <a:bodyPr/>
                    <a:lstStyle/>
                    <a:p>
                      <a:pPr indent="0" marL="0">
                        <a:buNone/>
                      </a:pPr>
                      <a:r>
                        <a:rPr lang="en-US" sz="1200" dirty="0">
                          <a:solidFill>
                            <a:schemeClr val="tx1"/>
                          </a:solidFill>
                        </a:rPr>
                        <a:t>발표, 교차로 교통량 분석, 결과 취합</a:t>
                      </a:r>
                      <a:endParaRPr lang="en-US" sz="1200" dirty="0"/>
                    </a:p>
                  </a:txBody>
                  <a:tcPr marL="109728" marR="73152" marT="27432" marB="27432" anchor="ctr">
                    <a:lnL w="9525" cap="flat" cmpd="sng" algn="ctr">
                      <a:solidFill>
                        <a:srgbClr val="8FB3EA"/>
                      </a:solidFill>
                      <a:prstDash val="solid"/>
                      <a:round/>
                      <a:headEnd type="none" w="med" len="med"/>
                      <a:tailEnd type="none" w="med" len="med"/>
                    </a:lnL>
                    <a:lnR w="9525" cap="flat" cmpd="sng" algn="ctr">
                      <a:solidFill>
                        <a:srgbClr val="8FB3EA"/>
                      </a:solidFill>
                      <a:prstDash val="solid"/>
                      <a:round/>
                      <a:headEnd type="none" w="med" len="med"/>
                      <a:tailEnd type="none" w="med" len="med"/>
                    </a:lnR>
                    <a:lnT w="9525" cap="flat" cmpd="sng" algn="ctr">
                      <a:solidFill>
                        <a:srgbClr val="8FB3EA"/>
                      </a:solidFill>
                      <a:prstDash val="solid"/>
                      <a:round/>
                      <a:headEnd type="none" w="med" len="med"/>
                      <a:tailEnd type="none" w="med" len="med"/>
                    </a:lnT>
                    <a:lnB w="9525" cap="flat" cmpd="sng" algn="ctr">
                      <a:solidFill>
                        <a:srgbClr val="8FB3EA"/>
                      </a:solidFill>
                      <a:prstDash val="solid"/>
                      <a:round/>
                      <a:headEnd type="none" w="med" len="med"/>
                      <a:tailEnd type="none" w="med" len="med"/>
                    </a:lnB>
                  </a:tcPr>
                </a:tc>
              </a:tr>
            </a:tbl>
          </a:graphicData>
        </a:graphic>
      </p:graphicFrame>
      <p:graphicFrame>
        <p:nvGraphicFramePr>
          <p:cNvPr id="3" name="date-table"/>
          <p:cNvGraphicFramePr>
            <a:graphicFrameLocks noGrp="1"/>
          </p:cNvGraphicFramePr>
          <p:nvPr>
            <p:extLst>
              <p:ext uri="{D42A27DB-BD31-4B8C-83A1-F6EECF244321}">
                <p14:modId xmlns:p14="http://schemas.microsoft.com/office/powerpoint/2010/main" val="1579011935"/>
              </p:ext>
            </p:extLst>
          </p:nvPr>
        </p:nvGraphicFramePr>
        <p:xfrm>
          <a:off x="7680960" y="4956048"/>
          <a:ext cx="3959352" cy="914400"/>
        </p:xfrm>
        <a:graphic>
          <a:graphicData uri="http://schemas.openxmlformats.org/drawingml/2006/table">
            <a:tbl>
              <a:tblPr/>
              <a:tblGrid>
                <a:gridCol w="1005840"/>
                <a:gridCol w="2953512"/>
              </a:tblGrid>
              <a:tr h="438912">
                <a:tc>
                  <a:txBody>
                    <a:bodyPr/>
                    <a:lstStyle/>
                    <a:p>
                      <a:pPr algn="ctr" indent="0" marL="0">
                        <a:buNone/>
                      </a:pPr>
                      <a:r>
                        <a:rPr lang="en-US" sz="1300" b="1" dirty="0">
                          <a:solidFill>
                            <a:schemeClr val="tx2"/>
                          </a:solidFill>
                        </a:rPr>
                        <a:t>발표일</a:t>
                      </a:r>
                      <a:endParaRPr lang="en-US" sz="1300" dirty="0"/>
                    </a:p>
                  </a:txBody>
                  <a:tcPr marL="91440" marR="91440" marT="45720" marB="45720" anchor="ctr">
                    <a:lnL w="9525" cap="flat" cmpd="sng" algn="ctr">
                      <a:solidFill>
                        <a:srgbClr val="8FB3EA"/>
                      </a:solidFill>
                      <a:prstDash val="solid"/>
                      <a:round/>
                      <a:headEnd type="none" w="med" len="med"/>
                      <a:tailEnd type="none" w="med" len="med"/>
                    </a:lnL>
                    <a:lnR w="9525" cap="flat" cmpd="sng" algn="ctr">
                      <a:solidFill>
                        <a:srgbClr val="8FB3EA"/>
                      </a:solidFill>
                      <a:prstDash val="solid"/>
                      <a:round/>
                      <a:headEnd type="none" w="med" len="med"/>
                      <a:tailEnd type="none" w="med" len="med"/>
                    </a:lnR>
                    <a:lnT w="9525" cap="flat" cmpd="sng" algn="ctr">
                      <a:solidFill>
                        <a:srgbClr val="8FB3EA"/>
                      </a:solidFill>
                      <a:prstDash val="solid"/>
                      <a:round/>
                      <a:headEnd type="none" w="med" len="med"/>
                      <a:tailEnd type="none" w="med" len="med"/>
                    </a:lnT>
                    <a:lnB w="9525" cap="flat" cmpd="sng" algn="ctr">
                      <a:solidFill>
                        <a:srgbClr val="8FB3EA"/>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2026.10.14</a:t>
                      </a:r>
                      <a:endParaRPr lang="en-US" sz="1300" dirty="0"/>
                    </a:p>
                  </a:txBody>
                  <a:tcPr marL="91440" marR="91440" marT="45720" marB="45720" anchor="ctr">
                    <a:lnL w="9525" cap="flat" cmpd="sng" algn="ctr">
                      <a:solidFill>
                        <a:srgbClr val="8FB3EA"/>
                      </a:solidFill>
                      <a:prstDash val="solid"/>
                      <a:round/>
                      <a:headEnd type="none" w="med" len="med"/>
                      <a:tailEnd type="none" w="med" len="med"/>
                    </a:lnL>
                    <a:lnR w="9525" cap="flat" cmpd="sng" algn="ctr">
                      <a:solidFill>
                        <a:srgbClr val="8FB3EA"/>
                      </a:solidFill>
                      <a:prstDash val="solid"/>
                      <a:round/>
                      <a:headEnd type="none" w="med" len="med"/>
                      <a:tailEnd type="none" w="med" len="med"/>
                    </a:lnR>
                    <a:lnT w="9525" cap="flat" cmpd="sng" algn="ctr">
                      <a:solidFill>
                        <a:srgbClr val="8FB3EA"/>
                      </a:solidFill>
                      <a:prstDash val="solid"/>
                      <a:round/>
                      <a:headEnd type="none" w="med" len="med"/>
                      <a:tailEnd type="none" w="med" len="med"/>
                    </a:lnT>
                    <a:lnB w="9525" cap="flat" cmpd="sng" algn="ctr">
                      <a:solidFill>
                        <a:srgbClr val="8FB3EA"/>
                      </a:solidFill>
                      <a:prstDash val="solid"/>
                      <a:round/>
                      <a:headEnd type="none" w="med" len="med"/>
                      <a:tailEnd type="none" w="med" len="med"/>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chemeClr val="tx2"/>
                </a:solidFill>
              </a:rPr>
              <a:t>고속도로 기본구간 선정</a:t>
            </a:r>
            <a:endParaRPr lang="en-US" sz="3000" dirty="0"/>
          </a:p>
        </p:txBody>
      </p:sp>
      <p:sp>
        <p:nvSpPr>
          <p:cNvPr id="3" name="map-frame"/>
          <p:cNvSpPr/>
          <p:nvPr/>
        </p:nvSpPr>
        <p:spPr>
          <a:xfrm>
            <a:off x="548640" y="1234440"/>
            <a:ext cx="6400800" cy="4206240"/>
          </a:xfrm>
          <a:prstGeom prst="rect">
            <a:avLst/>
          </a:prstGeom>
          <a:solidFill>
            <a:schemeClr val="bg2"/>
          </a:solidFill>
          <a:ln w="12700">
            <a:solidFill>
              <a:schemeClr val="accent6"/>
            </a:solidFill>
            <a:prstDash val="solid"/>
          </a:ln>
        </p:spPr>
      </p:sp>
      <p:pic>
        <p:nvPicPr>
          <p:cNvPr id="4" name="map-highway" descr="성남TG→송파IC 방향 선택 구간 위성지도 (네이버지도)">    </p:cNvPr>
          <p:cNvPicPr>
            <a:picLocks noChangeAspect="1"/>
          </p:cNvPicPr>
          <p:nvPr/>
        </p:nvPicPr>
        <p:blipFill>
          <a:blip r:embed="rId1"/>
          <a:stretch>
            <a:fillRect/>
          </a:stretch>
        </p:blipFill>
        <p:spPr>
          <a:xfrm>
            <a:off x="2331720" y="1234440"/>
            <a:ext cx="1452616" cy="4206240"/>
          </a:xfrm>
          <a:prstGeom prst="rect">
            <a:avLst/>
          </a:prstGeom>
        </p:spPr>
      </p:pic>
      <p:sp>
        <p:nvSpPr>
          <p:cNvPr id="5" name="leader-12"/>
          <p:cNvSpPr/>
          <p:nvPr/>
        </p:nvSpPr>
        <p:spPr>
          <a:xfrm>
            <a:off x="3160232" y="1907438"/>
            <a:ext cx="1046008" cy="0"/>
          </a:xfrm>
          <a:prstGeom prst="line">
            <a:avLst/>
          </a:prstGeom>
          <a:noFill/>
          <a:ln w="12700">
            <a:solidFill>
              <a:schemeClr val="tx2"/>
            </a:solidFill>
            <a:prstDash val="solid"/>
          </a:ln>
        </p:spPr>
      </p:sp>
      <p:sp>
        <p:nvSpPr>
          <p:cNvPr id="6" name="callout-13"/>
          <p:cNvSpPr txBox="1"/>
          <p:nvPr/>
        </p:nvSpPr>
        <p:spPr>
          <a:xfrm>
            <a:off x="4206240" y="1633118"/>
            <a:ext cx="2606040" cy="548640"/>
          </a:xfrm>
          <a:prstGeom prst="rect">
            <a:avLst/>
          </a:prstGeom>
          <a:solidFill>
            <a:schemeClr val="bg1"/>
          </a:solidFill>
          <a:ln w="9525">
            <a:solidFill>
              <a:schemeClr val="accent6"/>
            </a:solidFill>
          </a:ln>
        </p:spPr>
        <p:txBody>
          <a:bodyPr wrap="square" lIns="381" tIns="1016" rIns="1016" bIns="381" rtlCol="0" anchor="ctr"/>
          <a:lstStyle/>
          <a:p>
            <a:pPr indent="0" marL="0">
              <a:buNone/>
            </a:pPr>
            <a:r>
              <a:rPr lang="en-US" sz="1200" b="1" dirty="0">
                <a:solidFill>
                  <a:schemeClr val="tx2"/>
                </a:solidFill>
              </a:rPr>
              <a:t>종료점 (지도 ‘도착’)</a:t>
            </a:r>
            <a:endParaRPr lang="en-US" sz="1200" dirty="0"/>
          </a:p>
          <a:p>
            <a:pPr indent="0" marL="0">
              <a:buNone/>
            </a:pPr>
            <a:r>
              <a:rPr lang="en-US" sz="1200" dirty="0">
                <a:solidFill>
                  <a:schemeClr val="tx1"/>
                </a:solidFill>
              </a:rPr>
              <a:t>송파IC 쪽</a:t>
            </a:r>
            <a:endParaRPr lang="en-US" sz="1200" dirty="0"/>
          </a:p>
        </p:txBody>
      </p:sp>
      <p:sp>
        <p:nvSpPr>
          <p:cNvPr id="7" name="leader-14"/>
          <p:cNvSpPr/>
          <p:nvPr/>
        </p:nvSpPr>
        <p:spPr>
          <a:xfrm>
            <a:off x="3203811" y="4708794"/>
            <a:ext cx="1002429" cy="0"/>
          </a:xfrm>
          <a:prstGeom prst="line">
            <a:avLst/>
          </a:prstGeom>
          <a:noFill/>
          <a:ln w="12700">
            <a:solidFill>
              <a:schemeClr val="tx2"/>
            </a:solidFill>
            <a:prstDash val="solid"/>
          </a:ln>
        </p:spPr>
      </p:sp>
      <p:sp>
        <p:nvSpPr>
          <p:cNvPr id="8" name="callout-15"/>
          <p:cNvSpPr txBox="1"/>
          <p:nvPr/>
        </p:nvSpPr>
        <p:spPr>
          <a:xfrm>
            <a:off x="4206240" y="4434474"/>
            <a:ext cx="2606040" cy="548640"/>
          </a:xfrm>
          <a:prstGeom prst="rect">
            <a:avLst/>
          </a:prstGeom>
          <a:solidFill>
            <a:schemeClr val="bg1"/>
          </a:solidFill>
          <a:ln w="9525">
            <a:solidFill>
              <a:schemeClr val="accent6"/>
            </a:solidFill>
          </a:ln>
        </p:spPr>
        <p:txBody>
          <a:bodyPr wrap="square" lIns="381" tIns="1016" rIns="1016" bIns="381" rtlCol="0" anchor="ctr"/>
          <a:lstStyle/>
          <a:p>
            <a:pPr indent="0" marL="0">
              <a:buNone/>
            </a:pPr>
            <a:r>
              <a:rPr lang="en-US" sz="1200" b="1" dirty="0">
                <a:solidFill>
                  <a:schemeClr val="tx2"/>
                </a:solidFill>
              </a:rPr>
              <a:t>시작점 (지도 ‘출발’)</a:t>
            </a:r>
            <a:endParaRPr lang="en-US" sz="1200" dirty="0"/>
          </a:p>
          <a:p>
            <a:pPr indent="0" marL="0">
              <a:buNone/>
            </a:pPr>
            <a:r>
              <a:rPr lang="en-US" sz="1200" dirty="0">
                <a:solidFill>
                  <a:schemeClr val="tx1"/>
                </a:solidFill>
              </a:rPr>
              <a:t>성남TG 쪽</a:t>
            </a:r>
            <a:endParaRPr lang="en-US" sz="1200" dirty="0"/>
          </a:p>
        </p:txBody>
      </p:sp>
      <p:sp>
        <p:nvSpPr>
          <p:cNvPr id="9" name="dir-arrow"/>
          <p:cNvSpPr/>
          <p:nvPr/>
        </p:nvSpPr>
        <p:spPr>
          <a:xfrm flipV="1">
            <a:off x="4434840" y="2651760"/>
            <a:ext cx="0" cy="1417320"/>
          </a:xfrm>
          <a:prstGeom prst="line">
            <a:avLst/>
          </a:prstGeom>
          <a:noFill/>
          <a:ln w="38100">
            <a:solidFill>
              <a:schemeClr val="accent1"/>
            </a:solidFill>
            <a:prstDash val="solid"/>
            <a:tailEnd type="triangle"/>
          </a:ln>
        </p:spPr>
      </p:sp>
      <p:sp>
        <p:nvSpPr>
          <p:cNvPr id="10" name="Text 7"/>
          <p:cNvSpPr txBox="1"/>
          <p:nvPr/>
        </p:nvSpPr>
        <p:spPr>
          <a:xfrm>
            <a:off x="4617720" y="3063240"/>
            <a:ext cx="2103120" cy="548640"/>
          </a:xfrm>
          <a:prstGeom prst="rect">
            <a:avLst/>
          </a:prstGeom>
          <a:noFill/>
          <a:ln/>
        </p:spPr>
        <p:txBody>
          <a:bodyPr wrap="square" lIns="0" tIns="0" rIns="0" bIns="0" rtlCol="0" anchor="ctr"/>
          <a:lstStyle/>
          <a:p>
            <a:pPr indent="0" marL="0">
              <a:buNone/>
            </a:pPr>
            <a:r>
              <a:rPr lang="en-US" sz="1200" b="1" dirty="0">
                <a:solidFill>
                  <a:schemeClr val="accent1"/>
                </a:solidFill>
              </a:rPr>
              <a:t>진행방향</a:t>
            </a:r>
            <a:endParaRPr lang="en-US" sz="1200" dirty="0"/>
          </a:p>
          <a:p>
            <a:pPr indent="0" marL="0">
              <a:buNone/>
            </a:pPr>
            <a:r>
              <a:rPr lang="en-US" sz="1200" b="1" dirty="0">
                <a:solidFill>
                  <a:schemeClr val="accent1"/>
                </a:solidFill>
              </a:rPr>
              <a:t>성남TG → 송파IC</a:t>
            </a:r>
            <a:endParaRPr lang="en-US" sz="1200" dirty="0"/>
          </a:p>
        </p:txBody>
      </p:sp>
      <p:sp>
        <p:nvSpPr>
          <p:cNvPr id="11" name="map-legend"/>
          <p:cNvSpPr txBox="1"/>
          <p:nvPr/>
        </p:nvSpPr>
        <p:spPr>
          <a:xfrm>
            <a:off x="685800" y="1371600"/>
            <a:ext cx="1554480" cy="1280160"/>
          </a:xfrm>
          <a:prstGeom prst="rect">
            <a:avLst/>
          </a:prstGeom>
          <a:noFill/>
          <a:ln/>
        </p:spPr>
        <p:txBody>
          <a:bodyPr wrap="square" lIns="0" tIns="0" rIns="0" bIns="0" rtlCol="0" anchor="t"/>
          <a:lstStyle/>
          <a:p>
            <a:pPr indent="0" marL="0">
              <a:buNone/>
            </a:pPr>
            <a:r>
              <a:rPr lang="en-US" sz="1100" b="1" dirty="0">
                <a:solidFill>
                  <a:schemeClr val="tx2"/>
                </a:solidFill>
              </a:rPr>
              <a:t>지도 추가 표기 예정</a:t>
            </a:r>
            <a:endParaRPr lang="en-US" sz="1100" dirty="0"/>
          </a:p>
          <a:p>
            <a:pPr indent="0" marL="0">
              <a:buNone/>
            </a:pPr>
            <a:r>
              <a:rPr lang="en-US" sz="1100" dirty="0">
                <a:solidFill>
                  <a:schemeClr val="tx1"/>
                </a:solidFill>
              </a:rPr>
              <a:t>VDS 00700 · 00800</a:t>
            </a:r>
            <a:endParaRPr lang="en-US" sz="1100" dirty="0"/>
          </a:p>
          <a:p>
            <a:pPr indent="0" marL="0">
              <a:buNone/>
            </a:pPr>
            <a:r>
              <a:rPr lang="en-US" sz="1100" dirty="0">
                <a:solidFill>
                  <a:schemeClr val="accent5"/>
                </a:solidFill>
              </a:rPr>
              <a:t>(이정 기반 근사 위치)</a:t>
            </a:r>
            <a:endParaRPr lang="en-US" sz="1100" dirty="0"/>
          </a:p>
          <a:p>
            <a:pPr indent="0" marL="0">
              <a:buNone/>
            </a:pPr>
            <a:r>
              <a:rPr lang="en-US" sz="1100" dirty="0">
                <a:solidFill>
                  <a:schemeClr val="tx1"/>
                </a:solidFill>
              </a:rPr>
              <a:t>접속부 기준점·400m 경계</a:t>
            </a:r>
            <a:endParaRPr lang="en-US" sz="1100" dirty="0"/>
          </a:p>
        </p:txBody>
      </p:sp>
      <p:sp>
        <p:nvSpPr>
          <p:cNvPr id="12" name="Text 9"/>
          <p:cNvSpPr txBox="1"/>
          <p:nvPr/>
        </p:nvSpPr>
        <p:spPr>
          <a:xfrm>
            <a:off x="685800" y="5120640"/>
            <a:ext cx="1600200" cy="228600"/>
          </a:xfrm>
          <a:prstGeom prst="rect">
            <a:avLst/>
          </a:prstGeom>
          <a:noFill/>
          <a:ln/>
        </p:spPr>
        <p:txBody>
          <a:bodyPr wrap="square" lIns="0" tIns="0" rIns="0" bIns="0" rtlCol="0" anchor="ctr"/>
          <a:lstStyle/>
          <a:p>
            <a:pPr indent="0" marL="0">
              <a:buNone/>
            </a:pPr>
            <a:r>
              <a:rPr lang="en-US" sz="1000" i="1" dirty="0">
                <a:solidFill>
                  <a:schemeClr val="accent5"/>
                </a:solidFill>
              </a:rPr>
              <a:t>지도: 네이버지도 위성사진</a:t>
            </a:r>
            <a:endParaRPr lang="en-US" sz="1000" dirty="0"/>
          </a:p>
        </p:txBody>
      </p:sp>
      <p:sp>
        <p:nvSpPr>
          <p:cNvPr id="13" name="card-16"/>
          <p:cNvSpPr/>
          <p:nvPr/>
        </p:nvSpPr>
        <p:spPr>
          <a:xfrm>
            <a:off x="7269480" y="1234440"/>
            <a:ext cx="4370832" cy="786384"/>
          </a:xfrm>
          <a:prstGeom prst="roundRect">
            <a:avLst>
              <a:gd name="adj" fmla="val 9302"/>
            </a:avLst>
          </a:prstGeom>
          <a:solidFill>
            <a:schemeClr val="bg2"/>
          </a:solidFill>
          <a:ln w="12700">
            <a:solidFill>
              <a:schemeClr val="bg2"/>
            </a:solidFill>
            <a:prstDash val="solid"/>
          </a:ln>
        </p:spPr>
      </p:sp>
      <p:sp>
        <p:nvSpPr>
          <p:cNvPr id="14" name="Text 11"/>
          <p:cNvSpPr txBox="1"/>
          <p:nvPr/>
        </p:nvSpPr>
        <p:spPr>
          <a:xfrm>
            <a:off x="7498080" y="1307592"/>
            <a:ext cx="2560320" cy="237744"/>
          </a:xfrm>
          <a:prstGeom prst="rect">
            <a:avLst/>
          </a:prstGeom>
          <a:noFill/>
          <a:ln/>
        </p:spPr>
        <p:txBody>
          <a:bodyPr wrap="square" lIns="0" tIns="0" rIns="0" bIns="0" rtlCol="0" anchor="ctr"/>
          <a:lstStyle/>
          <a:p>
            <a:pPr indent="0" marL="0">
              <a:buNone/>
            </a:pPr>
            <a:r>
              <a:rPr lang="en-US" sz="1200" b="1" dirty="0">
                <a:solidFill>
                  <a:schemeClr val="accent1"/>
                </a:solidFill>
              </a:rPr>
              <a:t>대상 · 선정 이유</a:t>
            </a:r>
            <a:endParaRPr lang="en-US" sz="1200" dirty="0"/>
          </a:p>
        </p:txBody>
      </p:sp>
      <p:sp>
        <p:nvSpPr>
          <p:cNvPr id="15" name="Text 12"/>
          <p:cNvSpPr txBox="1"/>
          <p:nvPr/>
        </p:nvSpPr>
        <p:spPr>
          <a:xfrm>
            <a:off x="7498080" y="1545336"/>
            <a:ext cx="3913632" cy="420624"/>
          </a:xfrm>
          <a:prstGeom prst="rect">
            <a:avLst/>
          </a:prstGeom>
          <a:noFill/>
          <a:ln/>
        </p:spPr>
        <p:txBody>
          <a:bodyPr wrap="square" lIns="0" tIns="0" rIns="0" bIns="0" rtlCol="0" anchor="t"/>
          <a:lstStyle/>
          <a:p>
            <a:pPr indent="0" marL="0">
              <a:buNone/>
            </a:pPr>
            <a:r>
              <a:rPr lang="en-US" sz="1300" b="1" dirty="0">
                <a:solidFill>
                  <a:schemeClr val="tx1"/>
                </a:solidFill>
              </a:rPr>
              <a:t>성남TG → 송파IC 방향 선택 구간</a:t>
            </a:r>
            <a:endParaRPr lang="en-US" sz="1300" dirty="0"/>
          </a:p>
          <a:p>
            <a:pPr indent="0" marL="0">
              <a:buNone/>
            </a:pPr>
            <a:r>
              <a:rPr lang="en-US" sz="1300" dirty="0">
                <a:solidFill>
                  <a:schemeClr val="tx1"/>
                </a:solidFill>
              </a:rPr>
              <a:t>차로 수 일정 · 인접 VDS 자료 비교 가능</a:t>
            </a:r>
            <a:endParaRPr lang="en-US" sz="1300" dirty="0"/>
          </a:p>
        </p:txBody>
      </p:sp>
      <p:sp>
        <p:nvSpPr>
          <p:cNvPr id="16" name="card-17"/>
          <p:cNvSpPr/>
          <p:nvPr/>
        </p:nvSpPr>
        <p:spPr>
          <a:xfrm>
            <a:off x="7269480" y="2112264"/>
            <a:ext cx="4370832" cy="786384"/>
          </a:xfrm>
          <a:prstGeom prst="roundRect">
            <a:avLst>
              <a:gd name="adj" fmla="val 9302"/>
            </a:avLst>
          </a:prstGeom>
          <a:solidFill>
            <a:schemeClr val="bg2"/>
          </a:solidFill>
          <a:ln w="12700">
            <a:solidFill>
              <a:schemeClr val="bg2"/>
            </a:solidFill>
            <a:prstDash val="solid"/>
          </a:ln>
        </p:spPr>
      </p:sp>
      <p:sp>
        <p:nvSpPr>
          <p:cNvPr id="17" name="Text 14"/>
          <p:cNvSpPr txBox="1"/>
          <p:nvPr/>
        </p:nvSpPr>
        <p:spPr>
          <a:xfrm>
            <a:off x="7498080" y="2185416"/>
            <a:ext cx="2560320" cy="237744"/>
          </a:xfrm>
          <a:prstGeom prst="rect">
            <a:avLst/>
          </a:prstGeom>
          <a:noFill/>
          <a:ln/>
        </p:spPr>
        <p:txBody>
          <a:bodyPr wrap="square" lIns="0" tIns="0" rIns="0" bIns="0" rtlCol="0" anchor="ctr"/>
          <a:lstStyle/>
          <a:p>
            <a:pPr indent="0" marL="0">
              <a:buNone/>
            </a:pPr>
            <a:r>
              <a:rPr lang="en-US" sz="1200" b="1" dirty="0">
                <a:solidFill>
                  <a:schemeClr val="accent1"/>
                </a:solidFill>
              </a:rPr>
              <a:t>분석 경계 (잠정)</a:t>
            </a:r>
            <a:endParaRPr lang="en-US" sz="1200" dirty="0"/>
          </a:p>
        </p:txBody>
      </p:sp>
      <p:sp>
        <p:nvSpPr>
          <p:cNvPr id="18" name="Text 15"/>
          <p:cNvSpPr txBox="1"/>
          <p:nvPr/>
        </p:nvSpPr>
        <p:spPr>
          <a:xfrm>
            <a:off x="7498080" y="2423160"/>
            <a:ext cx="3913632" cy="420624"/>
          </a:xfrm>
          <a:prstGeom prst="rect">
            <a:avLst/>
          </a:prstGeom>
          <a:noFill/>
          <a:ln/>
        </p:spPr>
        <p:txBody>
          <a:bodyPr wrap="square" lIns="0" tIns="0" rIns="0" bIns="0" rtlCol="0" anchor="t"/>
          <a:lstStyle/>
          <a:p>
            <a:pPr indent="0" marL="0">
              <a:buNone/>
            </a:pPr>
            <a:r>
              <a:rPr lang="en-US" sz="1300" dirty="0">
                <a:solidFill>
                  <a:schemeClr val="tx1"/>
                </a:solidFill>
              </a:rPr>
              <a:t>접속부 기준점에서 각각 400m 이격</a:t>
            </a:r>
            <a:endParaRPr lang="en-US" sz="1300" dirty="0"/>
          </a:p>
          <a:p>
            <a:pPr indent="0" marL="0">
              <a:buNone/>
            </a:pPr>
            <a:r>
              <a:rPr lang="en-US" sz="1300" b="1" dirty="0">
                <a:solidFill>
                  <a:schemeClr val="accent4"/>
                </a:solidFill>
              </a:rPr>
              <a:t>[기준점: 성남TG 측 ___ / 송파IC 측 ___]</a:t>
            </a:r>
            <a:endParaRPr lang="en-US" sz="1300" dirty="0"/>
          </a:p>
        </p:txBody>
      </p:sp>
      <p:sp>
        <p:nvSpPr>
          <p:cNvPr id="19" name="card-18"/>
          <p:cNvSpPr/>
          <p:nvPr/>
        </p:nvSpPr>
        <p:spPr>
          <a:xfrm>
            <a:off x="7269480" y="2990088"/>
            <a:ext cx="4370832" cy="621792"/>
          </a:xfrm>
          <a:prstGeom prst="roundRect">
            <a:avLst>
              <a:gd name="adj" fmla="val 11765"/>
            </a:avLst>
          </a:prstGeom>
          <a:solidFill>
            <a:schemeClr val="bg2"/>
          </a:solidFill>
          <a:ln w="12700">
            <a:solidFill>
              <a:schemeClr val="bg2"/>
            </a:solidFill>
            <a:prstDash val="solid"/>
          </a:ln>
        </p:spPr>
      </p:sp>
      <p:sp>
        <p:nvSpPr>
          <p:cNvPr id="20" name="Text 17"/>
          <p:cNvSpPr txBox="1"/>
          <p:nvPr/>
        </p:nvSpPr>
        <p:spPr>
          <a:xfrm>
            <a:off x="7498080" y="3063240"/>
            <a:ext cx="2560320" cy="237744"/>
          </a:xfrm>
          <a:prstGeom prst="rect">
            <a:avLst/>
          </a:prstGeom>
          <a:noFill/>
          <a:ln/>
        </p:spPr>
        <p:txBody>
          <a:bodyPr wrap="square" lIns="0" tIns="0" rIns="0" bIns="0" rtlCol="0" anchor="ctr"/>
          <a:lstStyle/>
          <a:p>
            <a:pPr indent="0" marL="0">
              <a:buNone/>
            </a:pPr>
            <a:r>
              <a:rPr lang="en-US" sz="1200" b="1" dirty="0">
                <a:solidFill>
                  <a:schemeClr val="accent1"/>
                </a:solidFill>
              </a:rPr>
              <a:t>기본구간 판정 근거</a:t>
            </a:r>
            <a:endParaRPr lang="en-US" sz="1200" dirty="0"/>
          </a:p>
        </p:txBody>
      </p:sp>
      <p:sp>
        <p:nvSpPr>
          <p:cNvPr id="21" name="chip-19"/>
          <p:cNvSpPr txBox="1"/>
          <p:nvPr/>
        </p:nvSpPr>
        <p:spPr>
          <a:xfrm>
            <a:off x="10497312" y="3054096"/>
            <a:ext cx="914400" cy="274320"/>
          </a:xfrm>
          <a:prstGeom prst="roundRect">
            <a:avLst>
              <a:gd name="adj" fmla="val 50000"/>
            </a:avLst>
          </a:prstGeom>
          <a:solidFill>
            <a:schemeClr val="bg1"/>
          </a:solidFill>
          <a:ln w="15875">
            <a:solidFill>
              <a:schemeClr val="accent4"/>
            </a:solidFill>
          </a:ln>
        </p:spPr>
        <p:txBody>
          <a:bodyPr wrap="square" lIns="0" tIns="0" rIns="0" bIns="0" rtlCol="0" anchor="ctr"/>
          <a:lstStyle/>
          <a:p>
            <a:pPr algn="ctr" indent="0" marL="0">
              <a:buNone/>
            </a:pPr>
            <a:r>
              <a:rPr lang="en-US" sz="1100" b="1" dirty="0">
                <a:solidFill>
                  <a:schemeClr val="accent4"/>
                </a:solidFill>
              </a:rPr>
              <a:t>입력 필요</a:t>
            </a:r>
            <a:endParaRPr lang="en-US" sz="1100" dirty="0"/>
          </a:p>
        </p:txBody>
      </p:sp>
      <p:sp>
        <p:nvSpPr>
          <p:cNvPr id="22" name="Text 19"/>
          <p:cNvSpPr txBox="1"/>
          <p:nvPr/>
        </p:nvSpPr>
        <p:spPr>
          <a:xfrm>
            <a:off x="7498080" y="3300984"/>
            <a:ext cx="3913632" cy="256032"/>
          </a:xfrm>
          <a:prstGeom prst="rect">
            <a:avLst/>
          </a:prstGeom>
          <a:noFill/>
          <a:ln/>
        </p:spPr>
        <p:txBody>
          <a:bodyPr wrap="square" lIns="0" tIns="0" rIns="0" bIns="0" rtlCol="0" anchor="t"/>
          <a:lstStyle/>
          <a:p>
            <a:pPr indent="0" marL="0">
              <a:buNone/>
            </a:pPr>
            <a:r>
              <a:rPr lang="en-US" sz="1300" b="1" dirty="0">
                <a:solidFill>
                  <a:schemeClr val="accent4"/>
                </a:solidFill>
              </a:rPr>
              <a:t>[수업 적용 기준 · TG·접속부 영향 검토 방법]</a:t>
            </a:r>
            <a:endParaRPr lang="en-US" sz="1300" dirty="0"/>
          </a:p>
        </p:txBody>
      </p:sp>
      <p:sp>
        <p:nvSpPr>
          <p:cNvPr id="23" name="card-20"/>
          <p:cNvSpPr/>
          <p:nvPr/>
        </p:nvSpPr>
        <p:spPr>
          <a:xfrm>
            <a:off x="7269480" y="3703320"/>
            <a:ext cx="4370832" cy="786384"/>
          </a:xfrm>
          <a:prstGeom prst="roundRect">
            <a:avLst>
              <a:gd name="adj" fmla="val 9302"/>
            </a:avLst>
          </a:prstGeom>
          <a:solidFill>
            <a:schemeClr val="bg2"/>
          </a:solidFill>
          <a:ln w="12700">
            <a:solidFill>
              <a:schemeClr val="bg2"/>
            </a:solidFill>
            <a:prstDash val="solid"/>
          </a:ln>
        </p:spPr>
      </p:sp>
      <p:sp>
        <p:nvSpPr>
          <p:cNvPr id="24" name="Text 21"/>
          <p:cNvSpPr txBox="1"/>
          <p:nvPr/>
        </p:nvSpPr>
        <p:spPr>
          <a:xfrm>
            <a:off x="7498080" y="3776472"/>
            <a:ext cx="2560320" cy="237744"/>
          </a:xfrm>
          <a:prstGeom prst="rect">
            <a:avLst/>
          </a:prstGeom>
          <a:noFill/>
          <a:ln/>
        </p:spPr>
        <p:txBody>
          <a:bodyPr wrap="square" lIns="0" tIns="0" rIns="0" bIns="0" rtlCol="0" anchor="ctr"/>
          <a:lstStyle/>
          <a:p>
            <a:pPr indent="0" marL="0">
              <a:buNone/>
            </a:pPr>
            <a:r>
              <a:rPr lang="en-US" sz="1200" b="1" dirty="0">
                <a:solidFill>
                  <a:schemeClr val="accent1"/>
                </a:solidFill>
              </a:rPr>
              <a:t>차로 조건</a:t>
            </a:r>
            <a:endParaRPr lang="en-US" sz="1200" dirty="0"/>
          </a:p>
        </p:txBody>
      </p:sp>
      <p:sp>
        <p:nvSpPr>
          <p:cNvPr id="25" name="chip-21"/>
          <p:cNvSpPr txBox="1"/>
          <p:nvPr/>
        </p:nvSpPr>
        <p:spPr>
          <a:xfrm>
            <a:off x="10881360" y="3767328"/>
            <a:ext cx="530352" cy="274320"/>
          </a:xfrm>
          <a:prstGeom prst="roundRect">
            <a:avLst>
              <a:gd name="adj" fmla="val 50000"/>
            </a:avLst>
          </a:prstGeom>
          <a:solidFill>
            <a:schemeClr val="accent1"/>
          </a:solidFill>
          <a:ln w="12700">
            <a:solidFill>
              <a:schemeClr val="accent1"/>
            </a:solidFill>
          </a:ln>
        </p:spPr>
        <p:txBody>
          <a:bodyPr wrap="square" lIns="0" tIns="0" rIns="0" bIns="0" rtlCol="0" anchor="ctr"/>
          <a:lstStyle/>
          <a:p>
            <a:pPr algn="ctr" indent="0" marL="0">
              <a:buNone/>
            </a:pPr>
            <a:r>
              <a:rPr lang="en-US" sz="1100" b="1" dirty="0">
                <a:solidFill>
                  <a:schemeClr val="bg1"/>
                </a:solidFill>
              </a:rPr>
              <a:t>확인</a:t>
            </a:r>
            <a:endParaRPr lang="en-US" sz="1100" dirty="0"/>
          </a:p>
        </p:txBody>
      </p:sp>
      <p:sp>
        <p:nvSpPr>
          <p:cNvPr id="26" name="Text 23"/>
          <p:cNvSpPr txBox="1"/>
          <p:nvPr/>
        </p:nvSpPr>
        <p:spPr>
          <a:xfrm>
            <a:off x="7498080" y="4014216"/>
            <a:ext cx="3913632" cy="420624"/>
          </a:xfrm>
          <a:prstGeom prst="rect">
            <a:avLst/>
          </a:prstGeom>
          <a:noFill/>
          <a:ln/>
        </p:spPr>
        <p:txBody>
          <a:bodyPr wrap="square" lIns="0" tIns="0" rIns="0" bIns="0" rtlCol="0" anchor="t"/>
          <a:lstStyle/>
          <a:p>
            <a:pPr indent="0" marL="0">
              <a:buNone/>
            </a:pPr>
            <a:r>
              <a:rPr lang="en-US" sz="1300" dirty="0">
                <a:solidFill>
                  <a:schemeClr val="tx1"/>
                </a:solidFill>
              </a:rPr>
              <a:t>선택 구간 내 편도 4차로 유지</a:t>
            </a:r>
            <a:endParaRPr lang="en-US" sz="1300" dirty="0"/>
          </a:p>
          <a:p>
            <a:pPr indent="0" marL="0">
              <a:buNone/>
            </a:pPr>
            <a:r>
              <a:rPr lang="en-US" sz="1300" b="1" dirty="0">
                <a:solidFill>
                  <a:schemeClr val="accent4"/>
                </a:solidFill>
              </a:rPr>
              <a:t>[확인 자료]</a:t>
            </a:r>
            <a:endParaRPr lang="en-US" sz="1300" dirty="0"/>
          </a:p>
        </p:txBody>
      </p:sp>
      <p:sp>
        <p:nvSpPr>
          <p:cNvPr id="27" name="card-22"/>
          <p:cNvSpPr/>
          <p:nvPr/>
        </p:nvSpPr>
        <p:spPr>
          <a:xfrm>
            <a:off x="7269480" y="4581144"/>
            <a:ext cx="4370832" cy="621792"/>
          </a:xfrm>
          <a:prstGeom prst="roundRect">
            <a:avLst>
              <a:gd name="adj" fmla="val 11765"/>
            </a:avLst>
          </a:prstGeom>
          <a:solidFill>
            <a:schemeClr val="bg2"/>
          </a:solidFill>
          <a:ln w="12700">
            <a:solidFill>
              <a:schemeClr val="bg2"/>
            </a:solidFill>
            <a:prstDash val="solid"/>
          </a:ln>
        </p:spPr>
      </p:sp>
      <p:sp>
        <p:nvSpPr>
          <p:cNvPr id="28" name="Text 25"/>
          <p:cNvSpPr txBox="1"/>
          <p:nvPr/>
        </p:nvSpPr>
        <p:spPr>
          <a:xfrm>
            <a:off x="7498080" y="4654296"/>
            <a:ext cx="2560320" cy="237744"/>
          </a:xfrm>
          <a:prstGeom prst="rect">
            <a:avLst/>
          </a:prstGeom>
          <a:noFill/>
          <a:ln/>
        </p:spPr>
        <p:txBody>
          <a:bodyPr wrap="square" lIns="0" tIns="0" rIns="0" bIns="0" rtlCol="0" anchor="ctr"/>
          <a:lstStyle/>
          <a:p>
            <a:pPr indent="0" marL="0">
              <a:buNone/>
            </a:pPr>
            <a:r>
              <a:rPr lang="en-US" sz="1200" b="1" dirty="0">
                <a:solidFill>
                  <a:schemeClr val="accent1"/>
                </a:solidFill>
              </a:rPr>
              <a:t>선택한 기본구간 길이</a:t>
            </a:r>
            <a:endParaRPr lang="en-US" sz="1200" dirty="0"/>
          </a:p>
        </p:txBody>
      </p:sp>
      <p:sp>
        <p:nvSpPr>
          <p:cNvPr id="29" name="chip-23"/>
          <p:cNvSpPr txBox="1"/>
          <p:nvPr/>
        </p:nvSpPr>
        <p:spPr>
          <a:xfrm>
            <a:off x="10497312" y="4645152"/>
            <a:ext cx="914400" cy="274320"/>
          </a:xfrm>
          <a:prstGeom prst="roundRect">
            <a:avLst>
              <a:gd name="adj" fmla="val 50000"/>
            </a:avLst>
          </a:prstGeom>
          <a:solidFill>
            <a:schemeClr val="bg1"/>
          </a:solidFill>
          <a:ln w="15875">
            <a:solidFill>
              <a:schemeClr val="accent4"/>
            </a:solidFill>
          </a:ln>
        </p:spPr>
        <p:txBody>
          <a:bodyPr wrap="square" lIns="0" tIns="0" rIns="0" bIns="0" rtlCol="0" anchor="ctr"/>
          <a:lstStyle/>
          <a:p>
            <a:pPr algn="ctr" indent="0" marL="0">
              <a:buNone/>
            </a:pPr>
            <a:r>
              <a:rPr lang="en-US" sz="1100" b="1" dirty="0">
                <a:solidFill>
                  <a:schemeClr val="accent4"/>
                </a:solidFill>
              </a:rPr>
              <a:t>추가 확인</a:t>
            </a:r>
            <a:endParaRPr lang="en-US" sz="1100" dirty="0"/>
          </a:p>
        </p:txBody>
      </p:sp>
      <p:sp>
        <p:nvSpPr>
          <p:cNvPr id="30" name="Text 27"/>
          <p:cNvSpPr txBox="1"/>
          <p:nvPr/>
        </p:nvSpPr>
        <p:spPr>
          <a:xfrm>
            <a:off x="7498080" y="4892040"/>
            <a:ext cx="3913632" cy="256032"/>
          </a:xfrm>
          <a:prstGeom prst="rect">
            <a:avLst/>
          </a:prstGeom>
          <a:noFill/>
          <a:ln/>
        </p:spPr>
        <p:txBody>
          <a:bodyPr wrap="square" lIns="0" tIns="0" rIns="0" bIns="0" rtlCol="0" anchor="t"/>
          <a:lstStyle/>
          <a:p>
            <a:pPr indent="0" marL="0">
              <a:buNone/>
            </a:pPr>
            <a:r>
              <a:rPr lang="en-US" sz="1300" b="1" dirty="0">
                <a:solidFill>
                  <a:schemeClr val="accent4"/>
                </a:solidFill>
              </a:rPr>
              <a:t>[___ m]</a:t>
            </a:r>
            <a:endParaRPr lang="en-US" sz="1300" dirty="0"/>
          </a:p>
        </p:txBody>
      </p:sp>
      <p:sp>
        <p:nvSpPr>
          <p:cNvPr id="31" name="notes-24"/>
          <p:cNvSpPr txBox="1"/>
          <p:nvPr/>
        </p:nvSpPr>
        <p:spPr>
          <a:xfrm>
            <a:off x="548640" y="5577840"/>
            <a:ext cx="11064240" cy="548640"/>
          </a:xfrm>
          <a:prstGeom prst="rect">
            <a:avLst/>
          </a:prstGeom>
          <a:noFill/>
          <a:ln/>
        </p:spPr>
        <p:txBody>
          <a:bodyPr wrap="square" lIns="0" tIns="0" rIns="0" bIns="0" rtlCol="0" anchor="t"/>
          <a:lstStyle/>
          <a:p>
            <a:pPr indent="0" marL="0">
              <a:spcAft>
                <a:spcPts val="200"/>
              </a:spcAft>
              <a:buNone/>
            </a:pPr>
            <a:r>
              <a:rPr lang="en-US" sz="1200" dirty="0">
                <a:solidFill>
                  <a:schemeClr val="accent5"/>
                </a:solidFill>
              </a:rPr>
              <a:t>※ 400m 이격만으로 접속부 영향이 완전히 제거됐다고 단정하지 않음</a:t>
            </a:r>
            <a:endParaRPr lang="en-US" sz="1200" dirty="0"/>
          </a:p>
          <a:p>
            <a:pPr indent="0" marL="0">
              <a:spcAft>
                <a:spcPts val="200"/>
              </a:spcAft>
              <a:buNone/>
            </a:pPr>
            <a:r>
              <a:rPr lang="en-US" sz="1200" dirty="0">
                <a:solidFill>
                  <a:schemeClr val="accent5"/>
                </a:solidFill>
              </a:rPr>
              <a:t>※ VDS 지도 위치는 도로 이정 기반 근사 위치이며, 정확한 설치 위치는 추가 확인 예정</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chemeClr val="tx2"/>
                </a:solidFill>
              </a:rPr>
              <a:t>고속도로 입력자료 확보 현황</a:t>
            </a:r>
            <a:endParaRPr lang="en-US" sz="3000" dirty="0"/>
          </a:p>
        </p:txBody>
      </p:sp>
      <p:graphicFrame>
        <p:nvGraphicFramePr>
          <p:cNvPr id="4" name="hw-input-table"/>
          <p:cNvGraphicFramePr>
            <a:graphicFrameLocks noGrp="1"/>
          </p:cNvGraphicFramePr>
          <p:nvPr>
            <p:extLst>
              <p:ext uri="{D42A27DB-BD31-4B8C-83A1-F6EECF244321}">
                <p14:modId xmlns:p14="http://schemas.microsoft.com/office/powerpoint/2010/main" val="1579011935"/>
              </p:ext>
            </p:extLst>
          </p:nvPr>
        </p:nvGraphicFramePr>
        <p:xfrm>
          <a:off x="548640" y="1234440"/>
          <a:ext cx="6035040" cy="914400"/>
        </p:xfrm>
        <a:graphic>
          <a:graphicData uri="http://schemas.openxmlformats.org/drawingml/2006/table">
            <a:tbl>
              <a:tblPr/>
              <a:tblGrid>
                <a:gridCol w="1600200"/>
                <a:gridCol w="3611880"/>
                <a:gridCol w="822960"/>
              </a:tblGrid>
              <a:tr h="384048">
                <a:tc>
                  <a:txBody>
                    <a:bodyPr/>
                    <a:lstStyle/>
                    <a:p>
                      <a:pPr algn="l" indent="0" marL="0">
                        <a:buNone/>
                      </a:pPr>
                      <a:r>
                        <a:rPr lang="en-US" sz="1300" b="1" dirty="0">
                          <a:solidFill>
                            <a:schemeClr val="bg1"/>
                          </a:solidFill>
                        </a:rPr>
                        <a:t>항목</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현재 상태</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구분</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tx2"/>
                    </a:solidFill>
                  </a:tcPr>
                </a:tc>
              </a:tr>
              <a:tr h="457200">
                <a:tc>
                  <a:txBody>
                    <a:bodyPr/>
                    <a:lstStyle/>
                    <a:p>
                      <a:pPr indent="0" marL="0">
                        <a:buNone/>
                      </a:pPr>
                      <a:r>
                        <a:rPr lang="en-US" sz="1300" b="1" dirty="0">
                          <a:solidFill>
                            <a:schemeClr val="tx2"/>
                          </a:solidFill>
                        </a:rPr>
                        <a:t>대표 분석지점</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indent="0" marL="0">
                        <a:buNone/>
                      </a:pPr>
                      <a:r>
                        <a:rPr lang="en-US" sz="1300" dirty="0">
                          <a:solidFill>
                            <a:schemeClr val="tx1"/>
                          </a:solidFill>
                        </a:rPr>
                        <a:t>1000VDE00700, 이정 6.50km</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b="1" dirty="0">
                          <a:solidFill>
                            <a:schemeClr val="accent1"/>
                          </a:solidFill>
                        </a:rPr>
                        <a:t>확보</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457200">
                <a:tc>
                  <a:txBody>
                    <a:bodyPr/>
                    <a:lstStyle/>
                    <a:p>
                      <a:pPr indent="0" marL="0">
                        <a:buNone/>
                      </a:pPr>
                      <a:r>
                        <a:rPr lang="en-US" sz="1300" b="1" dirty="0">
                          <a:solidFill>
                            <a:schemeClr val="tx2"/>
                          </a:solidFill>
                        </a:rPr>
                        <a:t>비교 지점</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indent="0" marL="0">
                        <a:buNone/>
                      </a:pPr>
                      <a:r>
                        <a:rPr lang="en-US" sz="1300" dirty="0">
                          <a:solidFill>
                            <a:schemeClr val="tx1"/>
                          </a:solidFill>
                        </a:rPr>
                        <a:t>1000VDE00800, 이정 7.20km</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b="1" dirty="0">
                          <a:solidFill>
                            <a:schemeClr val="accent1"/>
                          </a:solidFill>
                        </a:rPr>
                        <a:t>확보</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457200">
                <a:tc>
                  <a:txBody>
                    <a:bodyPr/>
                    <a:lstStyle/>
                    <a:p>
                      <a:pPr indent="0" marL="0">
                        <a:buNone/>
                      </a:pPr>
                      <a:r>
                        <a:rPr lang="en-US" sz="1300" b="1" dirty="0">
                          <a:solidFill>
                            <a:schemeClr val="tx2"/>
                          </a:solidFill>
                        </a:rPr>
                        <a:t>교통량·속도</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indent="0" marL="0">
                        <a:buNone/>
                      </a:pPr>
                      <a:r>
                        <a:rPr lang="en-US" sz="1300" dirty="0">
                          <a:solidFill>
                            <a:schemeClr val="tx1"/>
                          </a:solidFill>
                        </a:rPr>
                        <a:t>2026년 6월 15·16·17·22·23일 5분 자료</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b="1" dirty="0">
                          <a:solidFill>
                            <a:schemeClr val="accent1"/>
                          </a:solidFill>
                        </a:rPr>
                        <a:t>확보</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640080">
                <a:tc>
                  <a:txBody>
                    <a:bodyPr/>
                    <a:lstStyle/>
                    <a:p>
                      <a:pPr indent="0" marL="0">
                        <a:buNone/>
                      </a:pPr>
                      <a:r>
                        <a:rPr lang="en-US" sz="1300" b="1" dirty="0">
                          <a:solidFill>
                            <a:schemeClr val="tx2"/>
                          </a:solidFill>
                        </a:rPr>
                        <a:t>자료 일관성</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indent="0" marL="0">
                        <a:buNone/>
                      </a:pPr>
                      <a:r>
                        <a:rPr lang="en-US" sz="1300" dirty="0">
                          <a:solidFill>
                            <a:schemeClr val="tx1"/>
                          </a:solidFill>
                        </a:rPr>
                        <a:t>일 교통량 차이 약 1.9~3.7%</a:t>
                      </a:r>
                      <a:endParaRPr lang="en-US" sz="1300" dirty="0"/>
                    </a:p>
                    <a:p>
                      <a:pPr indent="0" marL="0">
                        <a:buNone/>
                      </a:pPr>
                      <a:r>
                        <a:rPr lang="en-US" sz="1300" dirty="0">
                          <a:solidFill>
                            <a:schemeClr val="tx1"/>
                          </a:solidFill>
                        </a:rPr>
                        <a:t>시간대별 흐름 유사</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b="1" dirty="0">
                          <a:solidFill>
                            <a:schemeClr val="accent1"/>
                          </a:solidFill>
                        </a:rPr>
                        <a:t>검토</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640080">
                <a:tc>
                  <a:txBody>
                    <a:bodyPr/>
                    <a:lstStyle/>
                    <a:p>
                      <a:pPr indent="0" marL="0">
                        <a:buNone/>
                      </a:pPr>
                      <a:r>
                        <a:rPr lang="en-US" sz="1300" b="1" dirty="0">
                          <a:solidFill>
                            <a:schemeClr val="tx2"/>
                          </a:solidFill>
                        </a:rPr>
                        <a:t>대표 지점 원시자료</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indent="0" marL="0">
                        <a:buNone/>
                      </a:pPr>
                      <a:r>
                        <a:rPr lang="en-US" sz="1300" dirty="0">
                          <a:solidFill>
                            <a:schemeClr val="tx1"/>
                          </a:solidFill>
                        </a:rPr>
                        <a:t>00700의 1~4차로 기록 확인</a:t>
                      </a:r>
                      <a:endParaRPr lang="en-US" sz="1300" dirty="0"/>
                    </a:p>
                    <a:p>
                      <a:pPr indent="0" marL="0">
                        <a:buNone/>
                      </a:pPr>
                      <a:r>
                        <a:rPr lang="en-US" sz="1300" dirty="0">
                          <a:solidFill>
                            <a:schemeClr val="tx1"/>
                          </a:solidFill>
                        </a:rPr>
                        <a:t>5분 통계와 거의 일치</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b="1" dirty="0">
                          <a:solidFill>
                            <a:schemeClr val="accent1"/>
                          </a:solidFill>
                        </a:rPr>
                        <a:t>확인</a:t>
                      </a:r>
                      <a:endParaRPr lang="en-US" sz="1300" dirty="0"/>
                    </a:p>
                  </a:txBody>
                  <a:tcPr marL="109728" marR="73152"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bl>
          </a:graphicData>
        </a:graphic>
      </p:graphicFrame>
      <p:sp>
        <p:nvSpPr>
          <p:cNvPr id="4" name="card-25"/>
          <p:cNvSpPr/>
          <p:nvPr/>
        </p:nvSpPr>
        <p:spPr>
          <a:xfrm>
            <a:off x="548640" y="4389120"/>
            <a:ext cx="6035040" cy="1051560"/>
          </a:xfrm>
          <a:prstGeom prst="roundRect">
            <a:avLst>
              <a:gd name="adj" fmla="val 6957"/>
            </a:avLst>
          </a:prstGeom>
          <a:solidFill>
            <a:schemeClr val="bg2"/>
          </a:solidFill>
          <a:ln w="12700">
            <a:solidFill>
              <a:schemeClr val="bg2"/>
            </a:solidFill>
            <a:prstDash val="solid"/>
          </a:ln>
        </p:spPr>
      </p:sp>
      <p:sp>
        <p:nvSpPr>
          <p:cNvPr id="5" name="evidence"/>
          <p:cNvSpPr txBox="1"/>
          <p:nvPr/>
        </p:nvSpPr>
        <p:spPr>
          <a:xfrm>
            <a:off x="731520" y="4462272"/>
            <a:ext cx="5715000" cy="914400"/>
          </a:xfrm>
          <a:prstGeom prst="rect">
            <a:avLst/>
          </a:prstGeom>
          <a:noFill/>
          <a:ln/>
        </p:spPr>
        <p:txBody>
          <a:bodyPr wrap="square" lIns="0" tIns="0" rIns="0" bIns="0" rtlCol="0" anchor="ctr"/>
          <a:lstStyle/>
          <a:p>
            <a:pPr indent="0" marL="0">
              <a:spcAft>
                <a:spcPts val="300"/>
              </a:spcAft>
              <a:buNone/>
            </a:pPr>
            <a:r>
              <a:rPr lang="en-US" sz="1200" b="1" dirty="0">
                <a:solidFill>
                  <a:schemeClr val="accent1"/>
                </a:solidFill>
              </a:rPr>
              <a:t>차이 계산 기준  </a:t>
            </a:r>
            <a:pPr indent="0" marL="0">
              <a:spcAft>
                <a:spcPts val="300"/>
              </a:spcAft>
              <a:buNone/>
            </a:pPr>
            <a:r>
              <a:rPr lang="en-US" sz="1200" b="1" dirty="0">
                <a:solidFill>
                  <a:schemeClr val="accent4"/>
                </a:solidFill>
              </a:rPr>
              <a:t>[분모 지점 · 동일 집계시간 · 차로 합계 범위]</a:t>
            </a:r>
            <a:endParaRPr lang="en-US" sz="1200" dirty="0"/>
          </a:p>
          <a:p>
            <a:pPr indent="0" marL="0">
              <a:spcAft>
                <a:spcPts val="300"/>
              </a:spcAft>
              <a:buNone/>
            </a:pPr>
            <a:r>
              <a:rPr lang="en-US" sz="1200" b="1" dirty="0">
                <a:solidFill>
                  <a:schemeClr val="accent1"/>
                </a:solidFill>
              </a:rPr>
              <a:t>근거 수치  </a:t>
            </a:r>
            <a:pPr indent="0" marL="0">
              <a:spcAft>
                <a:spcPts val="300"/>
              </a:spcAft>
              <a:buNone/>
            </a:pPr>
            <a:r>
              <a:rPr lang="en-US" sz="1200" b="1" dirty="0">
                <a:solidFill>
                  <a:schemeClr val="accent4"/>
                </a:solidFill>
              </a:rPr>
              <a:t>[시간대별 비교 그래프 또는 원시자료–5분 통계 차이(%)]</a:t>
            </a:r>
            <a:endParaRPr lang="en-US" sz="1200" dirty="0"/>
          </a:p>
          <a:p>
            <a:pPr indent="0" marL="0">
              <a:spcAft>
                <a:spcPts val="300"/>
              </a:spcAft>
              <a:buNone/>
            </a:pPr>
            <a:r>
              <a:rPr lang="en-US" sz="1200" dirty="0">
                <a:solidFill>
                  <a:schemeClr val="tx1"/>
                </a:solidFill>
              </a:rPr>
              <a:t>00800은 집계 차로 범위 미확인 → 비교용으로만 활용, 교통량 합산하지 않음</a:t>
            </a:r>
            <a:endParaRPr lang="en-US" sz="1200" dirty="0"/>
          </a:p>
        </p:txBody>
      </p:sp>
      <p:sp>
        <p:nvSpPr>
          <p:cNvPr id="6" name="head-26"/>
          <p:cNvSpPr txBox="1"/>
          <p:nvPr/>
        </p:nvSpPr>
        <p:spPr>
          <a:xfrm>
            <a:off x="6858000" y="1188720"/>
            <a:ext cx="4782312" cy="365760"/>
          </a:xfrm>
          <a:prstGeom prst="rect">
            <a:avLst/>
          </a:prstGeom>
          <a:noFill/>
          <a:ln/>
        </p:spPr>
        <p:txBody>
          <a:bodyPr wrap="square" lIns="0" tIns="0" rIns="0" bIns="0" rtlCol="0" anchor="ctr"/>
          <a:lstStyle/>
          <a:p>
            <a:pPr indent="0" marL="0">
              <a:buNone/>
            </a:pPr>
            <a:r>
              <a:rPr lang="en-US" sz="1600" b="1" dirty="0">
                <a:solidFill>
                  <a:schemeClr val="tx2"/>
                </a:solidFill>
              </a:rPr>
              <a:t>미확보 항목 보완 계획</a:t>
            </a:r>
            <a:endParaRPr lang="en-US" sz="1600" dirty="0"/>
          </a:p>
        </p:txBody>
      </p:sp>
      <p:graphicFrame>
        <p:nvGraphicFramePr>
          <p:cNvPr id="7" name="hw-plan-table"/>
          <p:cNvGraphicFramePr>
            <a:graphicFrameLocks noGrp="1"/>
          </p:cNvGraphicFramePr>
          <p:nvPr>
            <p:extLst>
              <p:ext uri="{D42A27DB-BD31-4B8C-83A1-F6EECF244321}">
                <p14:modId xmlns:p14="http://schemas.microsoft.com/office/powerpoint/2010/main" val="1579011935"/>
              </p:ext>
            </p:extLst>
          </p:nvPr>
        </p:nvGraphicFramePr>
        <p:xfrm>
          <a:off x="6858000" y="1645920"/>
          <a:ext cx="4782312" cy="914400"/>
        </p:xfrm>
        <a:graphic>
          <a:graphicData uri="http://schemas.openxmlformats.org/drawingml/2006/table">
            <a:tbl>
              <a:tblPr/>
              <a:tblGrid>
                <a:gridCol w="1417320"/>
                <a:gridCol w="2542032"/>
                <a:gridCol w="822960"/>
              </a:tblGrid>
              <a:tr h="384048">
                <a:tc>
                  <a:txBody>
                    <a:bodyPr/>
                    <a:lstStyle/>
                    <a:p>
                      <a:pPr algn="ctr" indent="0" marL="0">
                        <a:buNone/>
                      </a:pPr>
                      <a:r>
                        <a:rPr lang="en-US" sz="1200" b="1" dirty="0">
                          <a:solidFill>
                            <a:schemeClr val="bg1"/>
                          </a:solidFill>
                        </a:rPr>
                        <a:t>항목</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bg1"/>
                          </a:solidFill>
                        </a:rPr>
                        <a:t>확보 경로</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bg1"/>
                          </a:solidFill>
                        </a:rPr>
                        <a:t>목표일</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accent4"/>
                    </a:solidFill>
                  </a:tcPr>
                </a:tc>
              </a:tr>
              <a:tr h="502920">
                <a:tc>
                  <a:txBody>
                    <a:bodyPr/>
                    <a:lstStyle/>
                    <a:p>
                      <a:pPr indent="0" marL="0">
                        <a:buNone/>
                      </a:pPr>
                      <a:r>
                        <a:rPr lang="en-US" sz="1200" b="1" dirty="0">
                          <a:solidFill>
                            <a:schemeClr val="tx2"/>
                          </a:solidFill>
                        </a:rPr>
                        <a:t>차로폭 · 측방여유폭</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indent="0" marL="0">
                        <a:buNone/>
                      </a:pPr>
                      <a:r>
                        <a:rPr lang="en-US" sz="1200" dirty="0">
                          <a:solidFill>
                            <a:schemeClr val="tx1"/>
                          </a:solidFill>
                        </a:rPr>
                        <a:t>도로대장 · 설계자료</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200" b="1" dirty="0">
                          <a:solidFill>
                            <a:schemeClr val="accent4"/>
                          </a:solidFill>
                        </a:rPr>
                        <a:t>[__.__]</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502920">
                <a:tc>
                  <a:txBody>
                    <a:bodyPr/>
                    <a:lstStyle/>
                    <a:p>
                      <a:pPr indent="0" marL="0">
                        <a:buNone/>
                      </a:pPr>
                      <a:r>
                        <a:rPr lang="en-US" sz="1200" b="1" dirty="0">
                          <a:solidFill>
                            <a:schemeClr val="tx2"/>
                          </a:solidFill>
                        </a:rPr>
                        <a:t>종단경사</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indent="0" marL="0">
                        <a:buNone/>
                      </a:pPr>
                      <a:r>
                        <a:rPr lang="en-US" sz="1200" dirty="0">
                          <a:solidFill>
                            <a:schemeClr val="tx1"/>
                          </a:solidFill>
                        </a:rPr>
                        <a:t>도로대장 · 설계자료</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200" b="1" dirty="0">
                          <a:solidFill>
                            <a:schemeClr val="accent4"/>
                          </a:solidFill>
                        </a:rPr>
                        <a:t>[__.__]</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1143000">
                <a:tc>
                  <a:txBody>
                    <a:bodyPr/>
                    <a:lstStyle/>
                    <a:p>
                      <a:pPr indent="0" marL="0">
                        <a:buNone/>
                      </a:pPr>
                      <a:r>
                        <a:rPr lang="en-US" sz="1200" b="1" dirty="0">
                          <a:solidFill>
                            <a:schemeClr val="tx2"/>
                          </a:solidFill>
                        </a:rPr>
                        <a:t>중차량 구성비</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indent="0" marL="0">
                        <a:buNone/>
                      </a:pPr>
                      <a:r>
                        <a:rPr lang="en-US" sz="1200" dirty="0">
                          <a:solidFill>
                            <a:schemeClr val="tx1"/>
                          </a:solidFill>
                        </a:rPr>
                        <a:t>대상 구간 직접 AVC 미확보</a:t>
                      </a:r>
                      <a:endParaRPr lang="en-US" sz="1200" dirty="0"/>
                    </a:p>
                    <a:p>
                      <a:pPr indent="0" marL="0">
                        <a:buNone/>
                      </a:pPr>
                      <a:r>
                        <a:rPr lang="en-US" sz="1200" dirty="0">
                          <a:solidFill>
                            <a:schemeClr val="tx1"/>
                          </a:solidFill>
                        </a:rPr>
                        <a:t>→ 인근 AVC 지점 자료 또는 현장 표본계수로 대체(안), 적용 근거 명시</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200" b="1" dirty="0">
                          <a:solidFill>
                            <a:schemeClr val="accent4"/>
                          </a:solidFill>
                        </a:rPr>
                        <a:t>[__.__]</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685800">
                <a:tc>
                  <a:txBody>
                    <a:bodyPr/>
                    <a:lstStyle/>
                    <a:p>
                      <a:pPr indent="0" marL="0">
                        <a:buNone/>
                      </a:pPr>
                      <a:r>
                        <a:rPr lang="en-US" sz="1200" b="1" dirty="0">
                          <a:solidFill>
                            <a:schemeClr val="tx2"/>
                          </a:solidFill>
                        </a:rPr>
                        <a:t>VDS 설치 위치 ·</a:t>
                      </a:r>
                      <a:endParaRPr lang="en-US" sz="1200" dirty="0"/>
                    </a:p>
                    <a:p>
                      <a:pPr indent="0" marL="0">
                        <a:buNone/>
                      </a:pPr>
                      <a:r>
                        <a:rPr lang="en-US" sz="1200" b="1" dirty="0">
                          <a:solidFill>
                            <a:schemeClr val="tx2"/>
                          </a:solidFill>
                        </a:rPr>
                        <a:t>00800 집계 차로</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indent="0" marL="0">
                        <a:buNone/>
                      </a:pPr>
                      <a:r>
                        <a:rPr lang="en-US" sz="1200" dirty="0">
                          <a:solidFill>
                            <a:schemeClr val="tx1"/>
                          </a:solidFill>
                        </a:rPr>
                        <a:t>제공기관(한국도로공사) 문의</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200" b="1" dirty="0">
                          <a:solidFill>
                            <a:schemeClr val="accent4"/>
                          </a:solidFill>
                        </a:rPr>
                        <a:t>[__.__]</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bl>
          </a:graphicData>
        </a:graphic>
      </p:graphicFrame>
      <p:sp>
        <p:nvSpPr>
          <p:cNvPr id="8" name="source-27"/>
          <p:cNvSpPr txBox="1"/>
          <p:nvPr/>
        </p:nvSpPr>
        <p:spPr>
          <a:xfrm>
            <a:off x="548640" y="5623560"/>
            <a:ext cx="11064240" cy="256032"/>
          </a:xfrm>
          <a:prstGeom prst="rect">
            <a:avLst/>
          </a:prstGeom>
          <a:noFill/>
          <a:ln/>
        </p:spPr>
        <p:txBody>
          <a:bodyPr wrap="square" lIns="0" tIns="0" rIns="0" bIns="0" rtlCol="0" anchor="ctr"/>
          <a:lstStyle/>
          <a:p>
            <a:pPr indent="0" marL="0">
              <a:buNone/>
            </a:pPr>
            <a:r>
              <a:rPr lang="en-US" sz="1000" i="1" dirty="0">
                <a:solidFill>
                  <a:schemeClr val="accent5"/>
                </a:solidFill>
              </a:rPr>
              <a:t>출처: 한국도로공사 VDS 5분 통계 및 차로별 원시자료</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chemeClr val="tx2"/>
                </a:solidFill>
              </a:rPr>
              <a:t>태릉입구역 교차로 선정 및 차로 구성</a:t>
            </a:r>
            <a:endParaRPr lang="en-US" sz="3000" dirty="0"/>
          </a:p>
        </p:txBody>
      </p:sp>
      <p:sp>
        <p:nvSpPr>
          <p:cNvPr id="3" name="map-slot"/>
          <p:cNvSpPr/>
          <p:nvPr/>
        </p:nvSpPr>
        <p:spPr>
          <a:xfrm>
            <a:off x="548640" y="1234440"/>
            <a:ext cx="3657600" cy="4206240"/>
          </a:xfrm>
          <a:prstGeom prst="rect">
            <a:avLst/>
          </a:prstGeom>
          <a:solidFill>
            <a:schemeClr val="bg2"/>
          </a:solidFill>
          <a:ln w="19050">
            <a:solidFill>
              <a:schemeClr val="accent3"/>
            </a:solidFill>
            <a:prstDash val="dash"/>
          </a:ln>
        </p:spPr>
      </p:sp>
      <p:sp>
        <p:nvSpPr>
          <p:cNvPr id="4" name="road-ns"/>
          <p:cNvSpPr/>
          <p:nvPr/>
        </p:nvSpPr>
        <p:spPr>
          <a:xfrm>
            <a:off x="1965960" y="1691640"/>
            <a:ext cx="822960" cy="3291840"/>
          </a:xfrm>
          <a:prstGeom prst="rect">
            <a:avLst/>
          </a:prstGeom>
          <a:solidFill>
            <a:schemeClr val="accent6"/>
          </a:solidFill>
          <a:ln w="12700">
            <a:solidFill>
              <a:schemeClr val="accent6"/>
            </a:solidFill>
            <a:prstDash val="solid"/>
          </a:ln>
        </p:spPr>
      </p:sp>
      <p:sp>
        <p:nvSpPr>
          <p:cNvPr id="5" name="road-ew"/>
          <p:cNvSpPr/>
          <p:nvPr/>
        </p:nvSpPr>
        <p:spPr>
          <a:xfrm>
            <a:off x="685800" y="2926080"/>
            <a:ext cx="3383280" cy="822960"/>
          </a:xfrm>
          <a:prstGeom prst="rect">
            <a:avLst/>
          </a:prstGeom>
          <a:solidFill>
            <a:schemeClr val="accent6"/>
          </a:solidFill>
          <a:ln w="12700">
            <a:solidFill>
              <a:schemeClr val="accent6"/>
            </a:solidFill>
            <a:prstDash val="solid"/>
          </a:ln>
        </p:spPr>
      </p:sp>
      <p:sp>
        <p:nvSpPr>
          <p:cNvPr id="6" name="inbound-28"/>
          <p:cNvSpPr/>
          <p:nvPr/>
        </p:nvSpPr>
        <p:spPr>
          <a:xfrm flipH="1">
            <a:off x="2926080" y="3131820"/>
            <a:ext cx="1005840" cy="0"/>
          </a:xfrm>
          <a:prstGeom prst="line">
            <a:avLst/>
          </a:prstGeom>
          <a:noFill/>
          <a:ln w="31750">
            <a:solidFill>
              <a:schemeClr val="tx2"/>
            </a:solidFill>
            <a:prstDash val="solid"/>
            <a:tailEnd type="triangle"/>
          </a:ln>
        </p:spPr>
      </p:sp>
      <p:sp>
        <p:nvSpPr>
          <p:cNvPr id="7" name="inbound-29"/>
          <p:cNvSpPr/>
          <p:nvPr/>
        </p:nvSpPr>
        <p:spPr>
          <a:xfrm>
            <a:off x="822960" y="3543300"/>
            <a:ext cx="1005840" cy="0"/>
          </a:xfrm>
          <a:prstGeom prst="line">
            <a:avLst/>
          </a:prstGeom>
          <a:noFill/>
          <a:ln w="31750">
            <a:solidFill>
              <a:schemeClr val="tx2"/>
            </a:solidFill>
            <a:prstDash val="solid"/>
            <a:tailEnd type="triangle"/>
          </a:ln>
        </p:spPr>
      </p:sp>
      <p:sp>
        <p:nvSpPr>
          <p:cNvPr id="8" name="inbound-30"/>
          <p:cNvSpPr/>
          <p:nvPr/>
        </p:nvSpPr>
        <p:spPr>
          <a:xfrm>
            <a:off x="2171700" y="1783080"/>
            <a:ext cx="0" cy="1005840"/>
          </a:xfrm>
          <a:prstGeom prst="line">
            <a:avLst/>
          </a:prstGeom>
          <a:noFill/>
          <a:ln w="31750">
            <a:solidFill>
              <a:schemeClr val="tx2"/>
            </a:solidFill>
            <a:prstDash val="solid"/>
            <a:tailEnd type="triangle"/>
          </a:ln>
        </p:spPr>
      </p:sp>
      <p:sp>
        <p:nvSpPr>
          <p:cNvPr id="9" name="inbound-31"/>
          <p:cNvSpPr/>
          <p:nvPr/>
        </p:nvSpPr>
        <p:spPr>
          <a:xfrm flipV="1">
            <a:off x="2583180" y="3886200"/>
            <a:ext cx="0" cy="1005840"/>
          </a:xfrm>
          <a:prstGeom prst="line">
            <a:avLst/>
          </a:prstGeom>
          <a:noFill/>
          <a:ln w="31750">
            <a:solidFill>
              <a:schemeClr val="tx2"/>
            </a:solidFill>
            <a:prstDash val="solid"/>
            <a:tailEnd type="triangle"/>
          </a:ln>
        </p:spPr>
      </p:sp>
      <p:sp>
        <p:nvSpPr>
          <p:cNvPr id="10" name="Text 8"/>
          <p:cNvSpPr txBox="1"/>
          <p:nvPr/>
        </p:nvSpPr>
        <p:spPr>
          <a:xfrm>
            <a:off x="640080" y="1289304"/>
            <a:ext cx="3474720" cy="384048"/>
          </a:xfrm>
          <a:prstGeom prst="rect">
            <a:avLst/>
          </a:prstGeom>
          <a:noFill/>
          <a:ln/>
        </p:spPr>
        <p:txBody>
          <a:bodyPr wrap="square" lIns="0" tIns="0" rIns="0" bIns="0" rtlCol="0" anchor="ctr"/>
          <a:lstStyle/>
          <a:p>
            <a:pPr algn="ctr" indent="0" marL="0">
              <a:buNone/>
            </a:pPr>
            <a:r>
              <a:rPr lang="en-US" sz="1100" b="1" dirty="0">
                <a:solidFill>
                  <a:schemeClr val="tx2"/>
                </a:solidFill>
              </a:rPr>
              <a:t>북측 · 동일로 (공릉역 쪽)</a:t>
            </a:r>
            <a:endParaRPr lang="en-US" sz="1100" dirty="0"/>
          </a:p>
        </p:txBody>
      </p:sp>
      <p:sp>
        <p:nvSpPr>
          <p:cNvPr id="11" name="Text 9"/>
          <p:cNvSpPr txBox="1"/>
          <p:nvPr/>
        </p:nvSpPr>
        <p:spPr>
          <a:xfrm>
            <a:off x="640080" y="5001768"/>
            <a:ext cx="3474720" cy="384048"/>
          </a:xfrm>
          <a:prstGeom prst="rect">
            <a:avLst/>
          </a:prstGeom>
          <a:noFill/>
          <a:ln/>
        </p:spPr>
        <p:txBody>
          <a:bodyPr wrap="square" lIns="0" tIns="0" rIns="0" bIns="0" rtlCol="0" anchor="ctr"/>
          <a:lstStyle/>
          <a:p>
            <a:pPr algn="ctr" indent="0" marL="0">
              <a:buNone/>
            </a:pPr>
            <a:r>
              <a:rPr lang="en-US" sz="1100" b="1" dirty="0">
                <a:solidFill>
                  <a:schemeClr val="tx2"/>
                </a:solidFill>
              </a:rPr>
              <a:t>남측 · 동일로 (먹골역 쪽)</a:t>
            </a:r>
            <a:endParaRPr lang="en-US" sz="1100" dirty="0"/>
          </a:p>
        </p:txBody>
      </p:sp>
      <p:sp>
        <p:nvSpPr>
          <p:cNvPr id="12" name="Text 10"/>
          <p:cNvSpPr txBox="1"/>
          <p:nvPr/>
        </p:nvSpPr>
        <p:spPr>
          <a:xfrm>
            <a:off x="685800" y="3840480"/>
            <a:ext cx="1280160" cy="384048"/>
          </a:xfrm>
          <a:prstGeom prst="rect">
            <a:avLst/>
          </a:prstGeom>
          <a:noFill/>
          <a:ln/>
        </p:spPr>
        <p:txBody>
          <a:bodyPr wrap="square" lIns="0" tIns="0" rIns="0" bIns="0" rtlCol="0" anchor="ctr"/>
          <a:lstStyle/>
          <a:p>
            <a:pPr algn="l" indent="0" marL="0">
              <a:buNone/>
            </a:pPr>
            <a:r>
              <a:rPr lang="en-US" sz="1100" b="1" dirty="0">
                <a:solidFill>
                  <a:schemeClr val="tx2"/>
                </a:solidFill>
              </a:rPr>
              <a:t>서측 · 화랑로</a:t>
            </a:r>
            <a:endParaRPr lang="en-US" sz="1100" dirty="0"/>
          </a:p>
          <a:p>
            <a:pPr algn="l" indent="0" marL="0">
              <a:buNone/>
            </a:pPr>
            <a:r>
              <a:rPr lang="en-US" sz="1100" b="1" dirty="0">
                <a:solidFill>
                  <a:schemeClr val="tx2"/>
                </a:solidFill>
              </a:rPr>
              <a:t>(석계역 쪽)</a:t>
            </a:r>
            <a:endParaRPr lang="en-US" sz="1100" dirty="0"/>
          </a:p>
        </p:txBody>
      </p:sp>
      <p:sp>
        <p:nvSpPr>
          <p:cNvPr id="13" name="Text 11"/>
          <p:cNvSpPr txBox="1"/>
          <p:nvPr/>
        </p:nvSpPr>
        <p:spPr>
          <a:xfrm>
            <a:off x="2788920" y="2468880"/>
            <a:ext cx="1280160" cy="384048"/>
          </a:xfrm>
          <a:prstGeom prst="rect">
            <a:avLst/>
          </a:prstGeom>
          <a:noFill/>
          <a:ln/>
        </p:spPr>
        <p:txBody>
          <a:bodyPr wrap="square" lIns="0" tIns="0" rIns="0" bIns="0" rtlCol="0" anchor="ctr"/>
          <a:lstStyle/>
          <a:p>
            <a:pPr algn="r" indent="0" marL="0">
              <a:buNone/>
            </a:pPr>
            <a:r>
              <a:rPr lang="en-US" sz="1100" b="1" dirty="0">
                <a:solidFill>
                  <a:schemeClr val="tx2"/>
                </a:solidFill>
              </a:rPr>
              <a:t>동측 · 화랑로</a:t>
            </a:r>
            <a:endParaRPr lang="en-US" sz="1100" dirty="0"/>
          </a:p>
        </p:txBody>
      </p:sp>
      <p:sp>
        <p:nvSpPr>
          <p:cNvPr id="14" name="Text 12"/>
          <p:cNvSpPr txBox="1"/>
          <p:nvPr/>
        </p:nvSpPr>
        <p:spPr>
          <a:xfrm>
            <a:off x="4480560" y="1234440"/>
            <a:ext cx="7159752" cy="365760"/>
          </a:xfrm>
          <a:prstGeom prst="rect">
            <a:avLst/>
          </a:prstGeom>
          <a:noFill/>
          <a:ln/>
        </p:spPr>
        <p:txBody>
          <a:bodyPr wrap="square" lIns="0" tIns="0" rIns="0" bIns="0" rtlCol="0" anchor="ctr"/>
          <a:lstStyle/>
          <a:p>
            <a:pPr indent="0" marL="0">
              <a:buNone/>
            </a:pPr>
            <a:r>
              <a:rPr lang="en-US" sz="1300" b="1" dirty="0">
                <a:solidFill>
                  <a:schemeClr val="accent1"/>
                </a:solidFill>
              </a:rPr>
              <a:t>위치  </a:t>
            </a:r>
            <a:pPr indent="0" marL="0">
              <a:buNone/>
            </a:pPr>
            <a:r>
              <a:rPr lang="en-US" sz="1300" dirty="0">
                <a:solidFill>
                  <a:schemeClr val="tx1"/>
                </a:solidFill>
              </a:rPr>
              <a:t>화랑로 × 동일로 사거리      </a:t>
            </a:r>
            <a:pPr indent="0" marL="0">
              <a:buNone/>
            </a:pPr>
            <a:r>
              <a:rPr lang="en-US" sz="1300" b="1" dirty="0">
                <a:solidFill>
                  <a:schemeClr val="accent1"/>
                </a:solidFill>
              </a:rPr>
              <a:t>선정 이유  </a:t>
            </a:r>
            <a:pPr indent="0" marL="0">
              <a:buNone/>
            </a:pPr>
            <a:r>
              <a:rPr lang="en-US" sz="1300" dirty="0">
                <a:solidFill>
                  <a:schemeClr val="tx1"/>
                </a:solidFill>
              </a:rPr>
              <a:t>T-DATA 자료 · 현장 접근 · 회전별 분석 가능</a:t>
            </a:r>
            <a:endParaRPr lang="en-US" sz="1300" dirty="0"/>
          </a:p>
        </p:txBody>
      </p:sp>
      <p:graphicFrame>
        <p:nvGraphicFramePr>
          <p:cNvPr id="5" name="lane-table"/>
          <p:cNvGraphicFramePr>
            <a:graphicFrameLocks noGrp="1"/>
          </p:cNvGraphicFramePr>
          <p:nvPr>
            <p:extLst>
              <p:ext uri="{D42A27DB-BD31-4B8C-83A1-F6EECF244321}">
                <p14:modId xmlns:p14="http://schemas.microsoft.com/office/powerpoint/2010/main" val="1579011935"/>
              </p:ext>
            </p:extLst>
          </p:nvPr>
        </p:nvGraphicFramePr>
        <p:xfrm>
          <a:off x="4480560" y="1783080"/>
          <a:ext cx="7159752" cy="914400"/>
        </p:xfrm>
        <a:graphic>
          <a:graphicData uri="http://schemas.openxmlformats.org/drawingml/2006/table">
            <a:tbl>
              <a:tblPr/>
              <a:tblGrid>
                <a:gridCol w="1627632"/>
                <a:gridCol w="548640"/>
                <a:gridCol w="996696"/>
                <a:gridCol w="996696"/>
                <a:gridCol w="996696"/>
                <a:gridCol w="996696"/>
                <a:gridCol w="996696"/>
              </a:tblGrid>
              <a:tr h="411480">
                <a:tc>
                  <a:txBody>
                    <a:bodyPr/>
                    <a:lstStyle/>
                    <a:p>
                      <a:pPr algn="ctr" indent="0" marL="0">
                        <a:buNone/>
                      </a:pPr>
                      <a:r>
                        <a:rPr lang="en-US" sz="1300" b="1" dirty="0">
                          <a:solidFill>
                            <a:schemeClr val="bg1"/>
                          </a:solidFill>
                        </a:rPr>
                        <a:t>접근로 (진입방향)</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차로</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1 (중앙선)</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2</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3</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4</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5</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tx2"/>
                    </a:solidFill>
                  </a:tcPr>
                </a:tc>
              </a:tr>
              <a:tr h="713232">
                <a:tc>
                  <a:txBody>
                    <a:bodyPr/>
                    <a:lstStyle/>
                    <a:p>
                      <a:pPr indent="0" marL="0">
                        <a:buNone/>
                      </a:pPr>
                      <a:r>
                        <a:rPr lang="en-US" sz="1300" b="1" dirty="0">
                          <a:solidFill>
                            <a:schemeClr val="tx2"/>
                          </a:solidFill>
                        </a:rPr>
                        <a:t>동측 · 화랑로</a:t>
                      </a:r>
                      <a:endParaRPr lang="en-US" sz="1300" dirty="0"/>
                    </a:p>
                    <a:p>
                      <a:pPr indent="0" marL="0">
                        <a:buNone/>
                      </a:pPr>
                      <a:r>
                        <a:rPr lang="en-US" sz="1100" dirty="0">
                          <a:solidFill>
                            <a:schemeClr val="accent5"/>
                          </a:solidFill>
                        </a:rPr>
                        <a:t>동쪽에서 진입</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b="1" dirty="0">
                          <a:solidFill>
                            <a:schemeClr val="tx2"/>
                          </a:solidFill>
                        </a:rPr>
                        <a:t>5</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dirty="0">
                          <a:solidFill>
                            <a:schemeClr val="tx1"/>
                          </a:solidFill>
                        </a:rPr>
                        <a:t>좌회전·유턴</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좌회전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직진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직진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직진·우회전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2"/>
                          </a:solidFill>
                        </a:rPr>
                        <a:t>서측 · 화랑로</a:t>
                      </a:r>
                      <a:endParaRPr lang="en-US" sz="1300" dirty="0"/>
                    </a:p>
                    <a:p>
                      <a:pPr indent="0" marL="0">
                        <a:buNone/>
                      </a:pPr>
                      <a:r>
                        <a:rPr lang="en-US" sz="1100" dirty="0">
                          <a:solidFill>
                            <a:schemeClr val="accent5"/>
                          </a:solidFill>
                        </a:rPr>
                        <a:t>서쪽에서 진입</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b="1" dirty="0">
                          <a:solidFill>
                            <a:schemeClr val="tx2"/>
                          </a:solidFill>
                        </a:rPr>
                        <a:t>5</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dirty="0">
                          <a:solidFill>
                            <a:schemeClr val="tx1"/>
                          </a:solidFill>
                        </a:rPr>
                        <a:t>좌회전·유턴</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직진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직진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직진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우회전 전용</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2"/>
                          </a:solidFill>
                        </a:rPr>
                        <a:t>북측 · 동일로</a:t>
                      </a:r>
                      <a:endParaRPr lang="en-US" sz="1300" dirty="0"/>
                    </a:p>
                    <a:p>
                      <a:pPr indent="0" marL="0">
                        <a:buNone/>
                      </a:pPr>
                      <a:r>
                        <a:rPr lang="en-US" sz="1100" dirty="0">
                          <a:solidFill>
                            <a:schemeClr val="accent5"/>
                          </a:solidFill>
                        </a:rPr>
                        <a:t>북쪽에서 진입</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b="1" dirty="0">
                          <a:solidFill>
                            <a:schemeClr val="tx2"/>
                          </a:solidFill>
                        </a:rPr>
                        <a:t>4</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dirty="0">
                          <a:solidFill>
                            <a:schemeClr val="tx1"/>
                          </a:solidFill>
                        </a:rPr>
                        <a:t>좌회전·유턴</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직진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직진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직진·우회전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5"/>
                          </a:solidFill>
                        </a:rPr>
                        <a:t>–</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713232">
                <a:tc>
                  <a:txBody>
                    <a:bodyPr/>
                    <a:lstStyle/>
                    <a:p>
                      <a:pPr indent="0" marL="0">
                        <a:buNone/>
                      </a:pPr>
                      <a:r>
                        <a:rPr lang="en-US" sz="1300" b="1" dirty="0">
                          <a:solidFill>
                            <a:schemeClr val="tx2"/>
                          </a:solidFill>
                        </a:rPr>
                        <a:t>남측 · 동일로</a:t>
                      </a:r>
                      <a:endParaRPr lang="en-US" sz="1300" dirty="0"/>
                    </a:p>
                    <a:p>
                      <a:pPr indent="0" marL="0">
                        <a:buNone/>
                      </a:pPr>
                      <a:r>
                        <a:rPr lang="en-US" sz="1100" dirty="0">
                          <a:solidFill>
                            <a:schemeClr val="accent5"/>
                          </a:solidFill>
                        </a:rPr>
                        <a:t>남쪽에서 진입</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b="1" dirty="0">
                          <a:solidFill>
                            <a:schemeClr val="tx2"/>
                          </a:solidFill>
                        </a:rPr>
                        <a:t>5</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algn="ctr" indent="0" marL="0">
                        <a:buNone/>
                      </a:pPr>
                      <a:r>
                        <a:rPr lang="en-US" sz="1300" dirty="0">
                          <a:solidFill>
                            <a:schemeClr val="tx1"/>
                          </a:solidFill>
                        </a:rPr>
                        <a:t>좌회전·유턴</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좌회전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직진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직진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직진·우회전</a:t>
                      </a:r>
                      <a:endParaRPr lang="en-US" sz="1300" dirty="0"/>
                    </a:p>
                  </a:txBody>
                  <a:tcPr marL="73152" marR="36576"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1"/>
                    </a:solidFill>
                  </a:tcPr>
                </a:tc>
              </a:tr>
            </a:tbl>
          </a:graphicData>
        </a:graphic>
      </p:graphicFrame>
      <p:sp>
        <p:nvSpPr>
          <p:cNvPr id="16" name="Text 13"/>
          <p:cNvSpPr txBox="1"/>
          <p:nvPr/>
        </p:nvSpPr>
        <p:spPr>
          <a:xfrm>
            <a:off x="4480560" y="5120640"/>
            <a:ext cx="7159752" cy="228600"/>
          </a:xfrm>
          <a:prstGeom prst="rect">
            <a:avLst/>
          </a:prstGeom>
          <a:noFill/>
          <a:ln/>
        </p:spPr>
        <p:txBody>
          <a:bodyPr wrap="square" lIns="0" tIns="0" rIns="0" bIns="0" rtlCol="0" anchor="ctr"/>
          <a:lstStyle/>
          <a:p>
            <a:pPr indent="0" marL="0">
              <a:buNone/>
            </a:pPr>
            <a:r>
              <a:rPr lang="en-US" sz="1100" dirty="0">
                <a:solidFill>
                  <a:schemeClr val="accent5"/>
                </a:solidFill>
              </a:rPr>
              <a:t>차로 구성은 중앙선 쪽부터 표시  ·  음영: 좌회전 포함 차로  ·  방향 표기는 5장 그래프와 동일</a:t>
            </a:r>
            <a:endParaRPr lang="en-US" sz="1100" dirty="0"/>
          </a:p>
        </p:txBody>
      </p:sp>
      <p:sp>
        <p:nvSpPr>
          <p:cNvPr id="17" name="notes-32"/>
          <p:cNvSpPr txBox="1"/>
          <p:nvPr/>
        </p:nvSpPr>
        <p:spPr>
          <a:xfrm>
            <a:off x="548640" y="5486400"/>
            <a:ext cx="11064240" cy="548640"/>
          </a:xfrm>
          <a:prstGeom prst="rect">
            <a:avLst/>
          </a:prstGeom>
          <a:noFill/>
          <a:ln/>
        </p:spPr>
        <p:txBody>
          <a:bodyPr wrap="square" lIns="0" tIns="0" rIns="0" bIns="0" rtlCol="0" anchor="t"/>
          <a:lstStyle/>
          <a:p>
            <a:pPr indent="0" marL="0">
              <a:spcAft>
                <a:spcPts val="200"/>
              </a:spcAft>
              <a:buNone/>
            </a:pPr>
            <a:r>
              <a:rPr lang="en-US" sz="1200" dirty="0">
                <a:solidFill>
                  <a:schemeClr val="accent5"/>
                </a:solidFill>
              </a:rPr>
              <a:t>※ 지도·거리뷰로 잠정 확인한 구성이며, 현장에서 대조 예정</a:t>
            </a:r>
            <a:endParaRPr lang="en-US" sz="1200" dirty="0"/>
          </a:p>
          <a:p>
            <a:pPr indent="0" marL="0">
              <a:spcAft>
                <a:spcPts val="200"/>
              </a:spcAft>
              <a:buNone/>
            </a:pPr>
            <a:r>
              <a:rPr lang="en-US" sz="1200" dirty="0">
                <a:solidFill>
                  <a:schemeClr val="accent5"/>
                </a:solidFill>
              </a:rPr>
              <a:t>※ 버스전용차로(위치·운영시간·적용 범위)·유턴 조건은 현장 표지판으로 확인하고, 차로군 구성에 주는 영향까지 검토</a:t>
            </a:r>
            <a:endParaRPr lang="en-US" sz="1200" dirty="0"/>
          </a:p>
        </p:txBody>
      </p:sp>
      <p:sp>
        <p:nvSpPr>
          <p:cNvPr id="18" name="source-33"/>
          <p:cNvSpPr txBox="1"/>
          <p:nvPr/>
        </p:nvSpPr>
        <p:spPr>
          <a:xfrm>
            <a:off x="548640" y="6108192"/>
            <a:ext cx="11064240" cy="256032"/>
          </a:xfrm>
          <a:prstGeom prst="rect">
            <a:avLst/>
          </a:prstGeom>
          <a:noFill/>
          <a:ln/>
        </p:spPr>
        <p:txBody>
          <a:bodyPr wrap="square" lIns="0" tIns="0" rIns="0" bIns="0" rtlCol="0" anchor="ctr"/>
          <a:lstStyle/>
          <a:p>
            <a:pPr indent="0" marL="0">
              <a:buNone/>
            </a:pPr>
            <a:r>
              <a:rPr lang="en-US" sz="1000" i="1" dirty="0">
                <a:solidFill>
                  <a:schemeClr val="accent5"/>
                </a:solidFill>
              </a:rPr>
              <a:t>출처: 네이버지도 위성사진·거리뷰</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chemeClr val="tx2"/>
                </a:solidFill>
              </a:rPr>
              <a:t>교차로 교통량 예비 분석</a:t>
            </a:r>
            <a:endParaRPr lang="en-US" sz="3000" dirty="0"/>
          </a:p>
        </p:txBody>
      </p:sp>
      <p:sp>
        <p:nvSpPr>
          <p:cNvPr id="3" name="card-34"/>
          <p:cNvSpPr/>
          <p:nvPr/>
        </p:nvSpPr>
        <p:spPr>
          <a:xfrm>
            <a:off x="548640" y="1188720"/>
            <a:ext cx="3657600" cy="960120"/>
          </a:xfrm>
          <a:prstGeom prst="roundRect">
            <a:avLst>
              <a:gd name="adj" fmla="val 7619"/>
            </a:avLst>
          </a:prstGeom>
          <a:solidFill>
            <a:schemeClr val="bg2"/>
          </a:solidFill>
          <a:ln w="12700">
            <a:solidFill>
              <a:schemeClr val="bg2"/>
            </a:solidFill>
            <a:prstDash val="solid"/>
          </a:ln>
        </p:spPr>
      </p:sp>
      <p:sp>
        <p:nvSpPr>
          <p:cNvPr id="4" name="Text 2"/>
          <p:cNvSpPr txBox="1"/>
          <p:nvPr/>
        </p:nvSpPr>
        <p:spPr>
          <a:xfrm>
            <a:off x="713232" y="1243584"/>
            <a:ext cx="3383280" cy="850392"/>
          </a:xfrm>
          <a:prstGeom prst="rect">
            <a:avLst/>
          </a:prstGeom>
          <a:noFill/>
          <a:ln/>
        </p:spPr>
        <p:txBody>
          <a:bodyPr wrap="square" lIns="0" tIns="0" rIns="0" bIns="0" rtlCol="0" anchor="ctr"/>
          <a:lstStyle/>
          <a:p>
            <a:pPr indent="0" marL="0">
              <a:buNone/>
            </a:pPr>
            <a:r>
              <a:rPr lang="en-US" sz="1100" b="1" dirty="0">
                <a:solidFill>
                  <a:schemeClr val="accent1"/>
                </a:solidFill>
              </a:rPr>
              <a:t>자료</a:t>
            </a:r>
            <a:endParaRPr lang="en-US" sz="1200" dirty="0"/>
          </a:p>
          <a:p>
            <a:pPr indent="0" marL="0">
              <a:buNone/>
            </a:pPr>
            <a:r>
              <a:rPr lang="en-US" sz="1200" dirty="0">
                <a:solidFill>
                  <a:schemeClr val="tx1"/>
                </a:solidFill>
              </a:rPr>
              <a:t>서울시 T-DATA 스마트교차로 5분 교통량</a:t>
            </a:r>
            <a:endParaRPr lang="en-US" sz="1200" dirty="0"/>
          </a:p>
          <a:p>
            <a:pPr indent="0" marL="0">
              <a:buNone/>
            </a:pPr>
            <a:r>
              <a:rPr lang="en-US" sz="1200" dirty="0">
                <a:solidFill>
                  <a:schemeClr val="tx1"/>
                </a:solidFill>
              </a:rPr>
              <a:t>태릉입구역(ID 172) · 2026.9.29</a:t>
            </a:r>
            <a:endParaRPr lang="en-US" sz="1200" dirty="0"/>
          </a:p>
        </p:txBody>
      </p:sp>
      <p:sp>
        <p:nvSpPr>
          <p:cNvPr id="5" name="card-35"/>
          <p:cNvSpPr/>
          <p:nvPr/>
        </p:nvSpPr>
        <p:spPr>
          <a:xfrm>
            <a:off x="4389120" y="1188720"/>
            <a:ext cx="7251192" cy="960120"/>
          </a:xfrm>
          <a:prstGeom prst="roundRect">
            <a:avLst>
              <a:gd name="adj" fmla="val 7619"/>
            </a:avLst>
          </a:prstGeom>
          <a:solidFill>
            <a:schemeClr val="bg2"/>
          </a:solidFill>
          <a:ln w="12700">
            <a:solidFill>
              <a:schemeClr val="bg2"/>
            </a:solidFill>
            <a:prstDash val="solid"/>
          </a:ln>
        </p:spPr>
      </p:sp>
      <p:sp>
        <p:nvSpPr>
          <p:cNvPr id="6" name="Text 4"/>
          <p:cNvSpPr txBox="1"/>
          <p:nvPr/>
        </p:nvSpPr>
        <p:spPr>
          <a:xfrm>
            <a:off x="4553712" y="1243584"/>
            <a:ext cx="6949440" cy="850392"/>
          </a:xfrm>
          <a:prstGeom prst="rect">
            <a:avLst/>
          </a:prstGeom>
          <a:noFill/>
          <a:ln/>
        </p:spPr>
        <p:txBody>
          <a:bodyPr wrap="square" lIns="0" tIns="0" rIns="0" bIns="0" rtlCol="0" anchor="ctr"/>
          <a:lstStyle/>
          <a:p>
            <a:pPr indent="0" marL="0">
              <a:buNone/>
            </a:pPr>
            <a:r>
              <a:rPr lang="en-US" sz="1100" b="1" dirty="0">
                <a:solidFill>
                  <a:schemeClr val="accent1"/>
                </a:solidFill>
              </a:rPr>
              <a:t>첨두 1시간 산정 방법</a:t>
            </a:r>
            <a:endParaRPr lang="en-US" sz="1200" dirty="0"/>
          </a:p>
          <a:p>
            <a:pPr indent="0" marL="0">
              <a:buNone/>
            </a:pPr>
            <a:r>
              <a:rPr lang="en-US" sz="1200" dirty="0">
                <a:solidFill>
                  <a:schemeClr val="tx1"/>
                </a:solidFill>
              </a:rPr>
              <a:t>회전별(좌·직·우·유턴) 5분 VOL 합산 → 연속 12개(1시간) 합계가 최대인 구간 선정</a:t>
            </a:r>
            <a:endParaRPr lang="en-US" sz="1200" dirty="0"/>
          </a:p>
          <a:p>
            <a:pPr indent="0" marL="0">
              <a:buNone/>
            </a:pPr>
            <a:r>
              <a:rPr lang="en-US" sz="1200" dirty="0">
                <a:solidFill>
                  <a:schemeClr val="tx1"/>
                </a:solidFill>
              </a:rPr>
              <a:t>검토 시간범위 </a:t>
            </a:r>
            <a:pPr indent="0" marL="0">
              <a:buNone/>
            </a:pPr>
            <a:r>
              <a:rPr lang="en-US" sz="1200" b="1" dirty="0">
                <a:solidFill>
                  <a:schemeClr val="accent4"/>
                </a:solidFill>
              </a:rPr>
              <a:t>[오전 __~__ / 오후 __~__]</a:t>
            </a:r>
            <a:pPr indent="0" marL="0">
              <a:buNone/>
            </a:pPr>
            <a:r>
              <a:rPr lang="en-US" sz="1200" dirty="0">
                <a:solidFill>
                  <a:schemeClr val="tx1"/>
                </a:solidFill>
              </a:rPr>
              <a:t>  ·  시각 표기 </a:t>
            </a:r>
            <a:pPr indent="0" marL="0">
              <a:buNone/>
            </a:pPr>
            <a:r>
              <a:rPr lang="en-US" sz="1200" b="1" dirty="0">
                <a:solidFill>
                  <a:schemeClr val="accent4"/>
                </a:solidFill>
              </a:rPr>
              <a:t>[원자료 시각 = 구간 시작/종료 확인]</a:t>
            </a:r>
            <a:endParaRPr lang="en-US" sz="1200" dirty="0"/>
          </a:p>
        </p:txBody>
      </p:sp>
      <p:sp>
        <p:nvSpPr>
          <p:cNvPr id="7" name="card-36"/>
          <p:cNvSpPr/>
          <p:nvPr/>
        </p:nvSpPr>
        <p:spPr>
          <a:xfrm>
            <a:off x="548640" y="2331720"/>
            <a:ext cx="3657600" cy="1188720"/>
          </a:xfrm>
          <a:prstGeom prst="roundRect">
            <a:avLst>
              <a:gd name="adj" fmla="val 6154"/>
            </a:avLst>
          </a:prstGeom>
          <a:solidFill>
            <a:schemeClr val="bg2"/>
          </a:solidFill>
          <a:ln w="12700">
            <a:solidFill>
              <a:schemeClr val="bg2"/>
            </a:solidFill>
            <a:prstDash val="solid"/>
          </a:ln>
        </p:spPr>
      </p:sp>
      <p:sp>
        <p:nvSpPr>
          <p:cNvPr id="8" name="Text 6"/>
          <p:cNvSpPr txBox="1"/>
          <p:nvPr/>
        </p:nvSpPr>
        <p:spPr>
          <a:xfrm>
            <a:off x="777240" y="2468880"/>
            <a:ext cx="1737360" cy="914400"/>
          </a:xfrm>
          <a:prstGeom prst="rect">
            <a:avLst/>
          </a:prstGeom>
          <a:noFill/>
          <a:ln/>
        </p:spPr>
        <p:txBody>
          <a:bodyPr wrap="square" lIns="0" tIns="0" rIns="0" bIns="0" rtlCol="0" anchor="ctr"/>
          <a:lstStyle/>
          <a:p>
            <a:pPr indent="0" marL="0">
              <a:buNone/>
            </a:pPr>
            <a:r>
              <a:rPr lang="en-US" sz="1300" b="1" dirty="0">
                <a:solidFill>
                  <a:schemeClr val="accent1"/>
                </a:solidFill>
              </a:rPr>
              <a:t>오전 첨두 1시간</a:t>
            </a:r>
            <a:endParaRPr lang="en-US" sz="1300" dirty="0"/>
          </a:p>
          <a:p>
            <a:pPr indent="0" marL="0">
              <a:buNone/>
            </a:pPr>
            <a:r>
              <a:rPr lang="en-US" sz="1400" dirty="0">
                <a:solidFill>
                  <a:schemeClr val="tx1"/>
                </a:solidFill>
              </a:rPr>
              <a:t>07:25 ~ 08:25</a:t>
            </a:r>
            <a:endParaRPr lang="en-US" sz="1300" dirty="0"/>
          </a:p>
        </p:txBody>
      </p:sp>
      <p:sp>
        <p:nvSpPr>
          <p:cNvPr id="9" name="Text 7"/>
          <p:cNvSpPr txBox="1"/>
          <p:nvPr/>
        </p:nvSpPr>
        <p:spPr>
          <a:xfrm>
            <a:off x="2377440" y="2468880"/>
            <a:ext cx="1645920" cy="914400"/>
          </a:xfrm>
          <a:prstGeom prst="rect">
            <a:avLst/>
          </a:prstGeom>
          <a:noFill/>
          <a:ln/>
        </p:spPr>
        <p:txBody>
          <a:bodyPr wrap="square" lIns="0" tIns="0" rIns="0" bIns="0" rtlCol="0" anchor="ctr"/>
          <a:lstStyle/>
          <a:p>
            <a:pPr algn="r" indent="0" marL="0">
              <a:buNone/>
            </a:pPr>
            <a:r>
              <a:rPr lang="en-US" sz="3400" b="1" dirty="0">
                <a:solidFill>
                  <a:schemeClr val="tx2"/>
                </a:solidFill>
              </a:rPr>
              <a:t>5,804</a:t>
            </a:r>
            <a:pPr algn="r" indent="0" marL="0">
              <a:buNone/>
            </a:pPr>
            <a:r>
              <a:rPr lang="en-US" sz="1400" dirty="0">
                <a:solidFill>
                  <a:schemeClr val="tx2"/>
                </a:solidFill>
              </a:rPr>
              <a:t> 대</a:t>
            </a:r>
            <a:endParaRPr lang="en-US" sz="3400" dirty="0"/>
          </a:p>
        </p:txBody>
      </p:sp>
      <p:sp>
        <p:nvSpPr>
          <p:cNvPr id="10" name="card-37"/>
          <p:cNvSpPr/>
          <p:nvPr/>
        </p:nvSpPr>
        <p:spPr>
          <a:xfrm>
            <a:off x="548640" y="3657600"/>
            <a:ext cx="3657600" cy="1188720"/>
          </a:xfrm>
          <a:prstGeom prst="roundRect">
            <a:avLst>
              <a:gd name="adj" fmla="val 6154"/>
            </a:avLst>
          </a:prstGeom>
          <a:solidFill>
            <a:schemeClr val="tx2"/>
          </a:solidFill>
          <a:ln w="12700">
            <a:solidFill>
              <a:schemeClr val="tx2"/>
            </a:solidFill>
            <a:prstDash val="solid"/>
          </a:ln>
        </p:spPr>
      </p:sp>
      <p:sp>
        <p:nvSpPr>
          <p:cNvPr id="11" name="Text 9"/>
          <p:cNvSpPr txBox="1"/>
          <p:nvPr/>
        </p:nvSpPr>
        <p:spPr>
          <a:xfrm>
            <a:off x="777240" y="3794760"/>
            <a:ext cx="1737360" cy="914400"/>
          </a:xfrm>
          <a:prstGeom prst="rect">
            <a:avLst/>
          </a:prstGeom>
          <a:noFill/>
          <a:ln/>
        </p:spPr>
        <p:txBody>
          <a:bodyPr wrap="square" lIns="0" tIns="0" rIns="0" bIns="0" rtlCol="0" anchor="ctr"/>
          <a:lstStyle/>
          <a:p>
            <a:pPr indent="0" marL="0">
              <a:buNone/>
            </a:pPr>
            <a:r>
              <a:rPr lang="en-US" sz="1300" b="1" dirty="0">
                <a:solidFill>
                  <a:schemeClr val="accent6"/>
                </a:solidFill>
              </a:rPr>
              <a:t>오후 첨두 1시간</a:t>
            </a:r>
            <a:endParaRPr lang="en-US" sz="1300" dirty="0"/>
          </a:p>
          <a:p>
            <a:pPr indent="0" marL="0">
              <a:buNone/>
            </a:pPr>
            <a:r>
              <a:rPr lang="en-US" sz="1400" dirty="0">
                <a:solidFill>
                  <a:schemeClr val="bg1"/>
                </a:solidFill>
              </a:rPr>
              <a:t>17:20 ~ 18:20</a:t>
            </a:r>
            <a:endParaRPr lang="en-US" sz="1300" dirty="0"/>
          </a:p>
        </p:txBody>
      </p:sp>
      <p:sp>
        <p:nvSpPr>
          <p:cNvPr id="12" name="Text 10"/>
          <p:cNvSpPr txBox="1"/>
          <p:nvPr/>
        </p:nvSpPr>
        <p:spPr>
          <a:xfrm>
            <a:off x="2377440" y="3794760"/>
            <a:ext cx="1645920" cy="914400"/>
          </a:xfrm>
          <a:prstGeom prst="rect">
            <a:avLst/>
          </a:prstGeom>
          <a:noFill/>
          <a:ln/>
        </p:spPr>
        <p:txBody>
          <a:bodyPr wrap="square" lIns="0" tIns="0" rIns="0" bIns="0" rtlCol="0" anchor="ctr"/>
          <a:lstStyle/>
          <a:p>
            <a:pPr algn="r" indent="0" marL="0">
              <a:buNone/>
            </a:pPr>
            <a:r>
              <a:rPr lang="en-US" sz="3400" b="1" dirty="0">
                <a:solidFill>
                  <a:schemeClr val="bg1"/>
                </a:solidFill>
              </a:rPr>
              <a:t>6,169</a:t>
            </a:r>
            <a:pPr algn="r" indent="0" marL="0">
              <a:buNone/>
            </a:pPr>
            <a:r>
              <a:rPr lang="en-US" sz="1400" dirty="0">
                <a:solidFill>
                  <a:schemeClr val="bg1"/>
                </a:solidFill>
              </a:rPr>
              <a:t> 대</a:t>
            </a:r>
            <a:endParaRPr lang="en-US" sz="3400" dirty="0"/>
          </a:p>
        </p:txBody>
      </p:sp>
      <p:sp>
        <p:nvSpPr>
          <p:cNvPr id="13" name="Text 11"/>
          <p:cNvSpPr txBox="1"/>
          <p:nvPr/>
        </p:nvSpPr>
        <p:spPr>
          <a:xfrm>
            <a:off x="548640" y="4892040"/>
            <a:ext cx="3657600" cy="228600"/>
          </a:xfrm>
          <a:prstGeom prst="rect">
            <a:avLst/>
          </a:prstGeom>
          <a:noFill/>
          <a:ln/>
        </p:spPr>
        <p:txBody>
          <a:bodyPr wrap="square" lIns="0" tIns="0" rIns="0" bIns="0" rtlCol="0" anchor="ctr"/>
          <a:lstStyle/>
          <a:p>
            <a:pPr indent="0" marL="0">
              <a:buNone/>
            </a:pPr>
            <a:r>
              <a:rPr lang="en-US" sz="1100" dirty="0">
                <a:solidFill>
                  <a:schemeClr val="accent5"/>
                </a:solidFill>
              </a:rPr>
              <a:t>전체 진입 교통량 기준</a:t>
            </a:r>
            <a:endParaRPr lang="en-US" sz="1100" dirty="0"/>
          </a:p>
        </p:txBody>
      </p:sp>
      <p:graphicFrame>
        <p:nvGraphicFramePr>
          <p:cNvPr id="14" name="dir-volume-chart" descr=""/>
          <p:cNvGraphicFramePr/>
          <p:nvPr/>
        </p:nvGraphicFramePr>
        <p:xfrm>
          <a:off x="4526280" y="2286000"/>
          <a:ext cx="7114032" cy="2834640"/>
        </p:xfrm>
        <a:graphic xmlns:a="http://schemas.openxmlformats.org/drawingml/2006/main">
          <a:graphicData uri="http://schemas.openxmlformats.org/drawingml/2006/chart">
            <c:chart xmlns:c="http://schemas.openxmlformats.org/drawingml/2006/chart" r:id="rId1"/>
          </a:graphicData>
        </a:graphic>
      </p:graphicFrame>
      <p:sp>
        <p:nvSpPr>
          <p:cNvPr id="15" name="card-38"/>
          <p:cNvSpPr/>
          <p:nvPr/>
        </p:nvSpPr>
        <p:spPr>
          <a:xfrm>
            <a:off x="548640" y="5212080"/>
            <a:ext cx="11091672" cy="841248"/>
          </a:xfrm>
          <a:prstGeom prst="roundRect">
            <a:avLst>
              <a:gd name="adj" fmla="val 8696"/>
            </a:avLst>
          </a:prstGeom>
          <a:solidFill>
            <a:schemeClr val="bg2"/>
          </a:solidFill>
          <a:ln w="12700">
            <a:solidFill>
              <a:schemeClr val="bg2"/>
            </a:solidFill>
            <a:prstDash val="solid"/>
          </a:ln>
        </p:spPr>
      </p:sp>
      <p:sp>
        <p:nvSpPr>
          <p:cNvPr id="16" name="interpretation"/>
          <p:cNvSpPr txBox="1"/>
          <p:nvPr/>
        </p:nvSpPr>
        <p:spPr>
          <a:xfrm>
            <a:off x="731520" y="5230368"/>
            <a:ext cx="10789920" cy="804672"/>
          </a:xfrm>
          <a:prstGeom prst="rect">
            <a:avLst/>
          </a:prstGeom>
          <a:noFill/>
          <a:ln/>
        </p:spPr>
        <p:txBody>
          <a:bodyPr wrap="square" lIns="0" tIns="0" rIns="0" bIns="0" rtlCol="0" anchor="ctr"/>
          <a:lstStyle/>
          <a:p>
            <a:pPr indent="0" marL="0">
              <a:buNone/>
            </a:pPr>
            <a:r>
              <a:rPr lang="en-US" sz="1200" b="1" dirty="0">
                <a:solidFill>
                  <a:schemeClr val="accent1"/>
                </a:solidFill>
              </a:rPr>
              <a:t>해석  </a:t>
            </a:r>
            <a:pPr indent="0" marL="0">
              <a:buNone/>
            </a:pPr>
            <a:r>
              <a:rPr lang="en-US" sz="1200" dirty="0">
                <a:solidFill>
                  <a:schemeClr val="tx1"/>
                </a:solidFill>
              </a:rPr>
              <a:t>해당 날짜는 오후 첨두 교통량이 더 많고, 서측 접근로 진입 교통량이 가장 많음</a:t>
            </a:r>
            <a:endParaRPr lang="en-US" sz="1200" dirty="0"/>
          </a:p>
          <a:p>
            <a:pPr indent="0" marL="0">
              <a:buNone/>
            </a:pPr>
            <a:r>
              <a:rPr lang="en-US" sz="1200" b="1" dirty="0">
                <a:solidFill>
                  <a:schemeClr val="accent1"/>
                </a:solidFill>
              </a:rPr>
              <a:t>향후  </a:t>
            </a:r>
            <a:pPr indent="0" marL="0">
              <a:buNone/>
            </a:pPr>
            <a:r>
              <a:rPr lang="en-US" sz="1200" dirty="0">
                <a:solidFill>
                  <a:schemeClr val="tx1"/>
                </a:solidFill>
              </a:rPr>
              <a:t>전체 진입량만으로 서비스수준을 판단하지 않음 → 접근로·회전별 교통량과 현장 신호시간을 연결해 차로군별 분석</a:t>
            </a:r>
            <a:endParaRPr lang="en-US" sz="1200" dirty="0"/>
          </a:p>
          <a:p>
            <a:pPr indent="0" marL="0">
              <a:buNone/>
            </a:pPr>
            <a:r>
              <a:rPr lang="en-US" sz="1200" b="1" dirty="0">
                <a:solidFill>
                  <a:schemeClr val="accent4"/>
                </a:solidFill>
              </a:rPr>
              <a:t>※ 한 날짜의 예비 결과로, 일반적인 첨두시간으로 확정하지 않음</a:t>
            </a:r>
            <a:endParaRPr lang="en-US" sz="1200" dirty="0"/>
          </a:p>
        </p:txBody>
      </p:sp>
      <p:sp>
        <p:nvSpPr>
          <p:cNvPr id="17" name="source-39"/>
          <p:cNvSpPr txBox="1"/>
          <p:nvPr/>
        </p:nvSpPr>
        <p:spPr>
          <a:xfrm>
            <a:off x="548640" y="6108192"/>
            <a:ext cx="11064240" cy="256032"/>
          </a:xfrm>
          <a:prstGeom prst="rect">
            <a:avLst/>
          </a:prstGeom>
          <a:noFill/>
          <a:ln/>
        </p:spPr>
        <p:txBody>
          <a:bodyPr wrap="square" lIns="0" tIns="0" rIns="0" bIns="0" rtlCol="0" anchor="ctr"/>
          <a:lstStyle/>
          <a:p>
            <a:pPr indent="0" marL="0">
              <a:buNone/>
            </a:pPr>
            <a:r>
              <a:rPr lang="en-US" sz="1000" i="1" dirty="0">
                <a:solidFill>
                  <a:schemeClr val="accent5"/>
                </a:solidFill>
              </a:rPr>
              <a:t>출처: 서울시 T-DATA, VW_SC_TRF_VOL_5M_20260929.csv</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chemeClr val="tx2"/>
                </a:solidFill>
              </a:rPr>
              <a:t>현장조사 및 향후 분석 계획</a:t>
            </a:r>
            <a:endParaRPr lang="en-US" sz="3000" dirty="0"/>
          </a:p>
        </p:txBody>
      </p:sp>
      <p:sp>
        <p:nvSpPr>
          <p:cNvPr id="3" name="card-40"/>
          <p:cNvSpPr/>
          <p:nvPr/>
        </p:nvSpPr>
        <p:spPr>
          <a:xfrm>
            <a:off x="548640" y="1234440"/>
            <a:ext cx="4160520" cy="4160520"/>
          </a:xfrm>
          <a:prstGeom prst="roundRect">
            <a:avLst>
              <a:gd name="adj" fmla="val 1758"/>
            </a:avLst>
          </a:prstGeom>
          <a:solidFill>
            <a:schemeClr val="bg2"/>
          </a:solidFill>
          <a:ln w="12700">
            <a:solidFill>
              <a:schemeClr val="bg2"/>
            </a:solidFill>
            <a:prstDash val="solid"/>
          </a:ln>
        </p:spPr>
      </p:sp>
      <p:sp>
        <p:nvSpPr>
          <p:cNvPr id="4" name="head-41"/>
          <p:cNvSpPr txBox="1"/>
          <p:nvPr/>
        </p:nvSpPr>
        <p:spPr>
          <a:xfrm>
            <a:off x="777240" y="1344168"/>
            <a:ext cx="3703320" cy="365760"/>
          </a:xfrm>
          <a:prstGeom prst="rect">
            <a:avLst/>
          </a:prstGeom>
          <a:noFill/>
          <a:ln/>
        </p:spPr>
        <p:txBody>
          <a:bodyPr wrap="square" lIns="0" tIns="0" rIns="0" bIns="0" rtlCol="0" anchor="ctr"/>
          <a:lstStyle/>
          <a:p>
            <a:pPr indent="0" marL="0">
              <a:buNone/>
            </a:pPr>
            <a:r>
              <a:rPr lang="en-US" sz="1600" b="1" dirty="0">
                <a:solidFill>
                  <a:schemeClr val="tx2"/>
                </a:solidFill>
              </a:rPr>
              <a:t>교차로 현장조사 항목</a:t>
            </a:r>
            <a:endParaRPr lang="en-US" sz="1600" dirty="0"/>
          </a:p>
        </p:txBody>
      </p:sp>
      <p:sp>
        <p:nvSpPr>
          <p:cNvPr id="5" name="Text 3"/>
          <p:cNvSpPr txBox="1"/>
          <p:nvPr/>
        </p:nvSpPr>
        <p:spPr>
          <a:xfrm>
            <a:off x="777240" y="1801368"/>
            <a:ext cx="3749040" cy="34747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tx1"/>
                </a:solidFill>
              </a:rPr>
              <a:t>차로 수·회전 구성 대조, 버스전용차로·유턴 표지 → 차로군 구성 영향 확인</a:t>
            </a:r>
            <a:endParaRPr lang="en-US" sz="1300" dirty="0"/>
          </a:p>
          <a:p>
            <a:pPr marL="177800" indent="-177800">
              <a:spcAft>
                <a:spcPts val="700"/>
              </a:spcAft>
              <a:buSzPct val="100000"/>
              <a:buChar char="•"/>
            </a:pPr>
            <a:r>
              <a:rPr lang="en-US" sz="1300" dirty="0">
                <a:solidFill>
                  <a:schemeClr val="tx1"/>
                </a:solidFill>
              </a:rPr>
              <a:t>신호주기·현시 순서, 현시별 녹색·황색·전적색시간</a:t>
            </a:r>
            <a:endParaRPr lang="en-US" sz="1300" dirty="0"/>
          </a:p>
          <a:p>
            <a:pPr marL="177800" indent="-177800">
              <a:spcAft>
                <a:spcPts val="700"/>
              </a:spcAft>
              <a:buSzPct val="100000"/>
              <a:buChar char="•"/>
            </a:pPr>
            <a:r>
              <a:rPr lang="en-US" sz="1300" dirty="0">
                <a:solidFill>
                  <a:schemeClr val="tx1"/>
                </a:solidFill>
              </a:rPr>
              <a:t>보행신호 시간·현시</a:t>
            </a:r>
            <a:endParaRPr lang="en-US" sz="1300" dirty="0"/>
          </a:p>
          <a:p>
            <a:pPr marL="177800" indent="-177800">
              <a:spcAft>
                <a:spcPts val="700"/>
              </a:spcAft>
              <a:buSzPct val="100000"/>
              <a:buChar char="•"/>
            </a:pPr>
            <a:r>
              <a:rPr lang="en-US" sz="1300" dirty="0">
                <a:solidFill>
                  <a:schemeClr val="tx1"/>
                </a:solidFill>
              </a:rPr>
              <a:t>3~5주기 예비 관측 → 변동이 있거나 관측이 불완전하면 추가 관측</a:t>
            </a:r>
            <a:endParaRPr lang="en-US" sz="1300" dirty="0"/>
          </a:p>
          <a:p>
            <a:pPr marL="177800" indent="-177800">
              <a:spcAft>
                <a:spcPts val="700"/>
              </a:spcAft>
              <a:buSzPct val="100000"/>
              <a:buChar char="•"/>
            </a:pPr>
            <a:r>
              <a:rPr lang="en-US" sz="1300" dirty="0">
                <a:solidFill>
                  <a:schemeClr val="tx1"/>
                </a:solidFill>
              </a:rPr>
              <a:t>조사 날짜·시간 기록, 사진 촬영</a:t>
            </a:r>
            <a:endParaRPr lang="en-US" sz="1300" dirty="0"/>
          </a:p>
        </p:txBody>
      </p:sp>
      <p:sp>
        <p:nvSpPr>
          <p:cNvPr id="6" name="head-42"/>
          <p:cNvSpPr txBox="1"/>
          <p:nvPr/>
        </p:nvSpPr>
        <p:spPr>
          <a:xfrm>
            <a:off x="4937760" y="1234440"/>
            <a:ext cx="3657600" cy="365760"/>
          </a:xfrm>
          <a:prstGeom prst="rect">
            <a:avLst/>
          </a:prstGeom>
          <a:noFill/>
          <a:ln/>
        </p:spPr>
        <p:txBody>
          <a:bodyPr wrap="square" lIns="0" tIns="0" rIns="0" bIns="0" rtlCol="0" anchor="ctr"/>
          <a:lstStyle/>
          <a:p>
            <a:pPr indent="0" marL="0">
              <a:buNone/>
            </a:pPr>
            <a:r>
              <a:rPr lang="en-US" sz="1600" b="1" dirty="0">
                <a:solidFill>
                  <a:schemeClr val="tx2"/>
                </a:solidFill>
              </a:rPr>
              <a:t>조사 실행계획 (예정)</a:t>
            </a:r>
            <a:endParaRPr lang="en-US" sz="1600" dirty="0"/>
          </a:p>
        </p:txBody>
      </p:sp>
      <p:graphicFrame>
        <p:nvGraphicFramePr>
          <p:cNvPr id="7" name="survey-plan"/>
          <p:cNvGraphicFramePr>
            <a:graphicFrameLocks noGrp="1"/>
          </p:cNvGraphicFramePr>
          <p:nvPr>
            <p:extLst>
              <p:ext uri="{D42A27DB-BD31-4B8C-83A1-F6EECF244321}">
                <p14:modId xmlns:p14="http://schemas.microsoft.com/office/powerpoint/2010/main" val="1579011935"/>
              </p:ext>
            </p:extLst>
          </p:nvPr>
        </p:nvGraphicFramePr>
        <p:xfrm>
          <a:off x="4937760" y="1691640"/>
          <a:ext cx="3657600" cy="914400"/>
        </p:xfrm>
        <a:graphic>
          <a:graphicData uri="http://schemas.openxmlformats.org/drawingml/2006/table">
            <a:tbl>
              <a:tblPr/>
              <a:tblGrid>
                <a:gridCol w="914400"/>
                <a:gridCol w="2743200"/>
              </a:tblGrid>
              <a:tr h="566928">
                <a:tc>
                  <a:txBody>
                    <a:bodyPr/>
                    <a:lstStyle/>
                    <a:p>
                      <a:pPr indent="0" marL="0">
                        <a:buNone/>
                      </a:pPr>
                      <a:r>
                        <a:rPr lang="en-US" sz="1200" b="1" dirty="0">
                          <a:solidFill>
                            <a:schemeClr val="tx2"/>
                          </a:solidFill>
                        </a:rPr>
                        <a:t>조사일</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10월 말 </a:t>
                      </a:r>
                      <a:pPr indent="0" marL="0">
                        <a:buNone/>
                      </a:pPr>
                      <a:r>
                        <a:rPr lang="en-US" sz="1200" b="1" dirty="0">
                          <a:solidFill>
                            <a:schemeClr val="accent4"/>
                          </a:solidFill>
                        </a:rPr>
                        <a:t>[날짜]</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713232">
                <a:tc>
                  <a:txBody>
                    <a:bodyPr/>
                    <a:lstStyle/>
                    <a:p>
                      <a:pPr indent="0" marL="0">
                        <a:buNone/>
                      </a:pPr>
                      <a:r>
                        <a:rPr lang="en-US" sz="1200" b="1" dirty="0">
                          <a:solidFill>
                            <a:schemeClr val="tx2"/>
                          </a:solidFill>
                        </a:rPr>
                        <a:t>시간대</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평일 오후 첨두(17:20~18:20) 포함 </a:t>
                      </a:r>
                      <a:pPr indent="0" marL="0">
                        <a:buNone/>
                      </a:pPr>
                      <a:r>
                        <a:rPr lang="en-US" sz="1200" b="1" dirty="0">
                          <a:solidFill>
                            <a:schemeClr val="accent4"/>
                          </a:solidFill>
                        </a:rPr>
                        <a:t>[관측 시각]</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566928">
                <a:tc>
                  <a:txBody>
                    <a:bodyPr/>
                    <a:lstStyle/>
                    <a:p>
                      <a:pPr indent="0" marL="0">
                        <a:buNone/>
                      </a:pPr>
                      <a:r>
                        <a:rPr lang="en-US" sz="1200" b="1" dirty="0">
                          <a:solidFill>
                            <a:schemeClr val="tx2"/>
                          </a:solidFill>
                        </a:rPr>
                        <a:t>관측 위치</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교차로 모서리 보도 </a:t>
                      </a:r>
                      <a:pPr indent="0" marL="0">
                        <a:buNone/>
                      </a:pPr>
                      <a:r>
                        <a:rPr lang="en-US" sz="1200" b="1" dirty="0">
                          <a:solidFill>
                            <a:schemeClr val="accent4"/>
                          </a:solidFill>
                        </a:rPr>
                        <a:t>[지점]</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713232">
                <a:tc>
                  <a:txBody>
                    <a:bodyPr/>
                    <a:lstStyle/>
                    <a:p>
                      <a:pPr indent="0" marL="0">
                        <a:buNone/>
                      </a:pPr>
                      <a:r>
                        <a:rPr lang="en-US" sz="1200" b="1" dirty="0">
                          <a:solidFill>
                            <a:schemeClr val="tx2"/>
                          </a:solidFill>
                        </a:rPr>
                        <a:t>담당</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신호시간: 전현규</a:t>
                      </a:r>
                      <a:endParaRPr lang="en-US" sz="1200" dirty="0"/>
                    </a:p>
                    <a:p>
                      <a:pPr indent="0" marL="0">
                        <a:buNone/>
                      </a:pPr>
                      <a:r>
                        <a:rPr lang="en-US" sz="1200" dirty="0">
                          <a:solidFill>
                            <a:schemeClr val="tx1"/>
                          </a:solidFill>
                        </a:rPr>
                        <a:t>차로·표지·사진: 송동석 </a:t>
                      </a:r>
                      <a:pPr indent="0" marL="0">
                        <a:buNone/>
                      </a:pPr>
                      <a:r>
                        <a:rPr lang="en-US" sz="1200" b="1" dirty="0">
                          <a:solidFill>
                            <a:schemeClr val="accent4"/>
                          </a:solidFill>
                        </a:rPr>
                        <a:t>[확인]</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r h="566928">
                <a:tc>
                  <a:txBody>
                    <a:bodyPr/>
                    <a:lstStyle/>
                    <a:p>
                      <a:pPr indent="0" marL="0">
                        <a:buNone/>
                      </a:pPr>
                      <a:r>
                        <a:rPr lang="en-US" sz="1200" b="1" dirty="0">
                          <a:solidFill>
                            <a:schemeClr val="tx2"/>
                          </a:solidFill>
                        </a:rPr>
                        <a:t>기록 방식</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현시별 기록지 + 스톱워치, 사진·영상</a:t>
                      </a:r>
                      <a:endParaRPr lang="en-US" sz="1200" dirty="0"/>
                    </a:p>
                  </a:txBody>
                  <a:tcPr marL="91440" marR="54864" marT="27432" marB="27432"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r>
            </a:tbl>
          </a:graphicData>
        </a:graphic>
      </p:graphicFrame>
      <p:sp>
        <p:nvSpPr>
          <p:cNvPr id="8" name="Text 5"/>
          <p:cNvSpPr txBox="1"/>
          <p:nvPr/>
        </p:nvSpPr>
        <p:spPr>
          <a:xfrm>
            <a:off x="4937760" y="4892040"/>
            <a:ext cx="3657600" cy="502920"/>
          </a:xfrm>
          <a:prstGeom prst="rect">
            <a:avLst/>
          </a:prstGeom>
          <a:noFill/>
          <a:ln/>
        </p:spPr>
        <p:txBody>
          <a:bodyPr wrap="square" lIns="0" tIns="0" rIns="0" bIns="0" rtlCol="0" anchor="t"/>
          <a:lstStyle/>
          <a:p>
            <a:pPr indent="0" marL="0">
              <a:buNone/>
            </a:pPr>
            <a:r>
              <a:rPr lang="en-US" sz="1200" b="1" dirty="0">
                <a:solidFill>
                  <a:schemeClr val="accent1"/>
                </a:solidFill>
              </a:rPr>
              <a:t>고속도로  </a:t>
            </a:r>
            <a:pPr indent="0" marL="0">
              <a:buNone/>
            </a:pPr>
            <a:r>
              <a:rPr lang="en-US" sz="1200" dirty="0">
                <a:solidFill>
                  <a:schemeClr val="tx1"/>
                </a:solidFill>
              </a:rPr>
              <a:t>공개자료·기관 문의로 도로 조건·중차량 구성비·VDS 설치정보 보완 (3장)</a:t>
            </a:r>
            <a:endParaRPr lang="en-US" sz="1200" dirty="0"/>
          </a:p>
        </p:txBody>
      </p:sp>
      <p:sp>
        <p:nvSpPr>
          <p:cNvPr id="9" name="head-43"/>
          <p:cNvSpPr txBox="1"/>
          <p:nvPr/>
        </p:nvSpPr>
        <p:spPr>
          <a:xfrm>
            <a:off x="8823960" y="1234440"/>
            <a:ext cx="2816352" cy="365760"/>
          </a:xfrm>
          <a:prstGeom prst="rect">
            <a:avLst/>
          </a:prstGeom>
          <a:noFill/>
          <a:ln/>
        </p:spPr>
        <p:txBody>
          <a:bodyPr wrap="square" lIns="0" tIns="0" rIns="0" bIns="0" rtlCol="0" anchor="ctr"/>
          <a:lstStyle/>
          <a:p>
            <a:pPr indent="0" marL="0">
              <a:buNone/>
            </a:pPr>
            <a:r>
              <a:rPr lang="en-US" sz="1600" b="1" dirty="0">
                <a:solidFill>
                  <a:schemeClr val="tx2"/>
                </a:solidFill>
              </a:rPr>
              <a:t>향후 분석</a:t>
            </a:r>
            <a:endParaRPr lang="en-US" sz="1600" dirty="0"/>
          </a:p>
        </p:txBody>
      </p:sp>
      <p:sp>
        <p:nvSpPr>
          <p:cNvPr id="10" name="step-num-44"/>
          <p:cNvSpPr txBox="1"/>
          <p:nvPr/>
        </p:nvSpPr>
        <p:spPr>
          <a:xfrm>
            <a:off x="8823960" y="1874520"/>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Text 8"/>
          <p:cNvSpPr txBox="1"/>
          <p:nvPr/>
        </p:nvSpPr>
        <p:spPr>
          <a:xfrm>
            <a:off x="9326880" y="1737360"/>
            <a:ext cx="2313432" cy="685800"/>
          </a:xfrm>
          <a:prstGeom prst="rect">
            <a:avLst/>
          </a:prstGeom>
          <a:noFill/>
          <a:ln/>
        </p:spPr>
        <p:txBody>
          <a:bodyPr wrap="square" lIns="0" tIns="0" rIns="0" bIns="0" rtlCol="0" anchor="ctr"/>
          <a:lstStyle/>
          <a:p>
            <a:pPr indent="0" marL="0">
              <a:buNone/>
            </a:pPr>
            <a:r>
              <a:rPr lang="en-US" sz="1300" dirty="0">
                <a:solidFill>
                  <a:schemeClr val="tx1"/>
                </a:solidFill>
              </a:rPr>
              <a:t>현장조사 결과와 기존 자료 대조</a:t>
            </a:r>
            <a:endParaRPr lang="en-US" sz="1300" dirty="0"/>
          </a:p>
        </p:txBody>
      </p:sp>
      <p:sp>
        <p:nvSpPr>
          <p:cNvPr id="12" name="step-num-45"/>
          <p:cNvSpPr txBox="1"/>
          <p:nvPr/>
        </p:nvSpPr>
        <p:spPr>
          <a:xfrm>
            <a:off x="8823960" y="2788920"/>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 10"/>
          <p:cNvSpPr txBox="1"/>
          <p:nvPr/>
        </p:nvSpPr>
        <p:spPr>
          <a:xfrm>
            <a:off x="9326880" y="2651760"/>
            <a:ext cx="2313432" cy="685800"/>
          </a:xfrm>
          <a:prstGeom prst="rect">
            <a:avLst/>
          </a:prstGeom>
          <a:noFill/>
          <a:ln/>
        </p:spPr>
        <p:txBody>
          <a:bodyPr wrap="square" lIns="0" tIns="0" rIns="0" bIns="0" rtlCol="0" anchor="ctr"/>
          <a:lstStyle/>
          <a:p>
            <a:pPr indent="0" marL="0">
              <a:buNone/>
            </a:pPr>
            <a:r>
              <a:rPr lang="en-US" sz="1300" b="1" dirty="0">
                <a:solidFill>
                  <a:schemeClr val="tx1"/>
                </a:solidFill>
              </a:rPr>
              <a:t>분석 교통량(오후 첨두)과 관측 신호의 시간대·운영조건 일치 확인</a:t>
            </a:r>
            <a:endParaRPr lang="en-US" sz="1300" dirty="0"/>
          </a:p>
        </p:txBody>
      </p:sp>
      <p:sp>
        <p:nvSpPr>
          <p:cNvPr id="14" name="step-num-46"/>
          <p:cNvSpPr txBox="1"/>
          <p:nvPr/>
        </p:nvSpPr>
        <p:spPr>
          <a:xfrm>
            <a:off x="8823960" y="3703320"/>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2"/>
          <p:cNvSpPr txBox="1"/>
          <p:nvPr/>
        </p:nvSpPr>
        <p:spPr>
          <a:xfrm>
            <a:off x="9326880" y="3566160"/>
            <a:ext cx="2313432" cy="685800"/>
          </a:xfrm>
          <a:prstGeom prst="rect">
            <a:avLst/>
          </a:prstGeom>
          <a:noFill/>
          <a:ln/>
        </p:spPr>
        <p:txBody>
          <a:bodyPr wrap="square" lIns="0" tIns="0" rIns="0" bIns="0" rtlCol="0" anchor="ctr"/>
          <a:lstStyle/>
          <a:p>
            <a:pPr indent="0" marL="0">
              <a:buNone/>
            </a:pPr>
            <a:r>
              <a:rPr lang="en-US" sz="1300" dirty="0">
                <a:solidFill>
                  <a:schemeClr val="tx1"/>
                </a:solidFill>
              </a:rPr>
              <a:t>용량·서비스수준 산정 필요 항목 확인</a:t>
            </a:r>
            <a:endParaRPr lang="en-US" sz="1300" dirty="0"/>
          </a:p>
        </p:txBody>
      </p:sp>
      <p:sp>
        <p:nvSpPr>
          <p:cNvPr id="16" name="step-num-47"/>
          <p:cNvSpPr txBox="1"/>
          <p:nvPr/>
        </p:nvSpPr>
        <p:spPr>
          <a:xfrm>
            <a:off x="8823960" y="4617720"/>
            <a:ext cx="384048" cy="384048"/>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Text 14"/>
          <p:cNvSpPr txBox="1"/>
          <p:nvPr/>
        </p:nvSpPr>
        <p:spPr>
          <a:xfrm>
            <a:off x="9326880" y="4480560"/>
            <a:ext cx="2313432" cy="685800"/>
          </a:xfrm>
          <a:prstGeom prst="rect">
            <a:avLst/>
          </a:prstGeom>
          <a:noFill/>
          <a:ln/>
        </p:spPr>
        <p:txBody>
          <a:bodyPr wrap="square" lIns="0" tIns="0" rIns="0" bIns="0" rtlCol="0" anchor="ctr"/>
          <a:lstStyle/>
          <a:p>
            <a:pPr indent="0" marL="0">
              <a:buNone/>
            </a:pPr>
            <a:r>
              <a:rPr lang="en-US" sz="1300" b="1" dirty="0">
                <a:solidFill>
                  <a:schemeClr val="tx1"/>
                </a:solidFill>
              </a:rPr>
              <a:t>입력자료 확보 후</a:t>
            </a:r>
            <a:endParaRPr lang="en-US" sz="1300" dirty="0"/>
          </a:p>
          <a:p>
            <a:pPr indent="0" marL="0">
              <a:buNone/>
            </a:pPr>
            <a:r>
              <a:rPr lang="en-US" sz="1300" b="1" dirty="0">
                <a:solidFill>
                  <a:schemeClr val="tx1"/>
                </a:solidFill>
              </a:rPr>
              <a:t>용량·서비스수준 분석</a:t>
            </a:r>
            <a:endParaRPr lang="en-US" sz="1300" dirty="0"/>
          </a:p>
        </p:txBody>
      </p:sp>
      <p:sp>
        <p:nvSpPr>
          <p:cNvPr id="18" name="notes-48"/>
          <p:cNvSpPr txBox="1"/>
          <p:nvPr/>
        </p:nvSpPr>
        <p:spPr>
          <a:xfrm>
            <a:off x="548640" y="5532120"/>
            <a:ext cx="11064240" cy="548640"/>
          </a:xfrm>
          <a:prstGeom prst="rect">
            <a:avLst/>
          </a:prstGeom>
          <a:noFill/>
          <a:ln/>
        </p:spPr>
        <p:txBody>
          <a:bodyPr wrap="square" lIns="0" tIns="0" rIns="0" bIns="0" rtlCol="0" anchor="t"/>
          <a:lstStyle/>
          <a:p>
            <a:pPr indent="0" marL="0">
              <a:spcAft>
                <a:spcPts val="200"/>
              </a:spcAft>
              <a:buNone/>
            </a:pPr>
            <a:r>
              <a:rPr lang="en-US" sz="1200" dirty="0">
                <a:solidFill>
                  <a:schemeClr val="accent5"/>
                </a:solidFill>
              </a:rPr>
              <a:t>※ 다른 시간대·주말에 관측한 신호시간은 오후 첨두와 신호운영계획이 같은지 확인한 뒤에만 적용</a:t>
            </a:r>
            <a:endParaRPr lang="en-US" sz="1200" dirty="0"/>
          </a:p>
          <a:p>
            <a:pPr indent="0" marL="0">
              <a:spcAft>
                <a:spcPts val="200"/>
              </a:spcAft>
              <a:buNone/>
            </a:pPr>
            <a:r>
              <a:rPr lang="en-US" sz="1200" dirty="0">
                <a:solidFill>
                  <a:schemeClr val="accent5"/>
                </a:solidFill>
              </a:rPr>
              <a:t>※ 최종 분석에 필요한 차종 구성·보행량 등은 추가 확보 계획에 포함</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UOS Traffic Capacity">
  <a:themeElements>
    <a:clrScheme name="UOS Traffic Capacity">
      <a:dk1>
        <a:srgbClr val="1A1F36"/>
      </a:dk1>
      <a:lt1>
        <a:srgbClr val="FFFFFF"/>
      </a:lt1>
      <a:dk2>
        <a:srgbClr val="1F2A5C"/>
      </a:dk2>
      <a:lt2>
        <a:srgbClr val="EEF3FA"/>
      </a:lt2>
      <a:accent1>
        <a:srgbClr val="2E6FD8"/>
      </a:accent1>
      <a:accent2>
        <a:srgbClr val="1F2A5C"/>
      </a:accent2>
      <a:accent3>
        <a:srgbClr val="8FB3EA"/>
      </a:accent3>
      <a:accent4>
        <a:srgbClr val="C26A00"/>
      </a:accent4>
      <a:accent5>
        <a:srgbClr val="6B7280"/>
      </a:accent5>
      <a:accent6>
        <a:srgbClr val="D6E2F5"/>
      </a:accent6>
      <a:hlink>
        <a:srgbClr val="2E6FD8"/>
      </a:hlink>
      <a:folHlink>
        <a:srgbClr val="5B5F97"/>
      </a:folHlink>
    </a:clrScheme>
    <a:fontScheme name="UOS Traffic Capacity">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서울시립대학교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고속도로 기본구간 및 신호교차로 분석 대상 선정과 조사 계획</dc:title>
  <dc:subject>교통 용량 분석 과제 중간발표</dc:subject>
  <dc:creator>PptxGenJS</dc:creator>
  <cp:lastModifiedBy>PptxGenJS</cp:lastModifiedBy>
  <cp:revision>1</cp:revision>
  <dcterms:created xsi:type="dcterms:W3CDTF">2026-10-13T01:33:00Z</dcterms:created>
  <dcterms:modified xsi:type="dcterms:W3CDTF">2026-10-13T01:33:00Z</dcterms:modified>
</cp:coreProperties>
</file>